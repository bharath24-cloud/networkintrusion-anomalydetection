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7" r:id="rId2"/>
    <p:sldId id="258" r:id="rId3"/>
    <p:sldId id="259" r:id="rId4"/>
    <p:sldId id="260" r:id="rId5"/>
    <p:sldId id="261" r:id="rId6"/>
    <p:sldId id="263" r:id="rId7"/>
    <p:sldId id="264" r:id="rId8"/>
    <p:sldId id="267" r:id="rId9"/>
    <p:sldId id="280" r:id="rId10"/>
    <p:sldId id="278" r:id="rId11"/>
    <p:sldId id="281" r:id="rId12"/>
    <p:sldId id="268" r:id="rId13"/>
    <p:sldId id="282" r:id="rId14"/>
    <p:sldId id="283" r:id="rId15"/>
    <p:sldId id="269" r:id="rId16"/>
    <p:sldId id="272" r:id="rId19"/>
    <p:sldId id="273" r:id="rId20"/>
    <p:sldId id="275" r:id="rId21"/>
    <p:sldId id="286" r:id="rId29"/>
    <p:sldId id="277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6147E7F-1722-49D8-B7E8-80D22A0F0210}" v="631" dt="2026-10-25T11:09:28.292"/>
    <p1510:client id="{BB906CA3-97F7-469B-8A65-AEBDC8D85B9E}" v="41" dt="2026-10-25T11:21:13.94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91" d="100"/>
          <a:sy n="91" d="100"/>
        </p:scale>
        <p:origin x="37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20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Relationship Id="rId28" Type="http://schemas.microsoft.com/office/2015/10/relationships/revisionInfo" Target="revisionInfo.xml"/><Relationship Id="rId29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2B8041-3817-4F59-AD8B-DE9D5DA4C385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8C8158-4B9C-4B61-B24C-EC16A4D456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62437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8C8158-4B9C-4B61-B24C-EC16A4D4563E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36209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8C8158-4B9C-4B61-B24C-EC16A4D4563E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0976279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657C7-1ABD-22BC-2735-6B6F41814C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A62C9B-1500-12A9-0516-993986535D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D82AB7-555F-9E0F-2E53-6A2AA5326E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573ED-CA3E-4E36-A5EB-91202A0B9F08}" type="datetime1">
              <a:rPr lang="en-IN" smtClean="0"/>
              <a:t>25-10-2026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180C0D-1385-636C-B873-DAF213ED26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6328B9-B1A6-0C1E-CD88-55130932E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22FB2-3071-4352-B8E4-3C2B5D4CC9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33500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87D05-D569-F27A-0F09-A5F2502FE1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AC721C-048B-C524-F501-5709013601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8DE483-4865-4966-319A-D931DC389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B7691-07BF-493C-83B8-00DDE0D645D7}" type="datetime1">
              <a:rPr lang="en-IN" smtClean="0"/>
              <a:t>25-10-2026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816E9B-A4AB-69FB-6885-ACE05F02C3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625C1F-08CD-8975-5055-D1FC4208A4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22FB2-3071-4352-B8E4-3C2B5D4CC9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48268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1045AE-0C41-FBC6-6A7B-2B9BC63CA7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505F9B-77D1-D888-5B52-25806A4A62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F092A9-E2AB-6514-3257-D96A26FCF3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DCEC4-4337-4AB6-A7CC-C46F7E56B17F}" type="datetime1">
              <a:rPr lang="en-IN" smtClean="0"/>
              <a:t>25-10-2026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AC9C82-A990-06FC-F3E0-5A0AB3B75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B39DE0-B88F-8A75-B48E-D72D55577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22FB2-3071-4352-B8E4-3C2B5D4CC9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00935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23363-1517-C676-71C7-C1140FAA5D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CB8434-9F38-3E7E-2B1A-B855994FCC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D0ECD3-4025-CC8E-42AD-9B25005790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23BEF9-6F52-82E3-1468-47A5311730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0D3E7-5605-4EAF-B595-BDBFD4E5D376}" type="datetime1">
              <a:rPr lang="en-IN" smtClean="0"/>
              <a:t>25-10-2026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A1FCAA-88E2-450D-A804-AFE4D39D27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660C6B-531B-7E3C-F667-5570A30B1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22FB2-3071-4352-B8E4-3C2B5D4CC9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12972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C7D6BD-38F2-301A-4EAF-F5DB80F9A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ECE9EC-2AC9-73A5-5E6B-9028576174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34EBCB-8827-99CF-ED02-47D0873B80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23CF57-EA58-1569-FF46-389C1962BB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F012665-2552-2B0C-C978-B907C19289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9A51692-670A-730A-AEB6-81AB80E9CF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BBA3C4-1FF1-42A2-99BD-FCA499EF2FCD}" type="datetime1">
              <a:rPr lang="en-IN" smtClean="0"/>
              <a:t>25-10-2026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6F1E302-095A-1E88-38D5-836C2D3774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1C2CFE0-85F5-5DE9-8C3D-7F185E9D4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22FB2-3071-4352-B8E4-3C2B5D4CC9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67300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19AB3-259B-BEDD-BBCB-FED1BBD696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FAA013-6B57-868D-7868-E2556DCBE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33A21-C397-4D10-94D1-8F49F9C7F339}" type="datetime1">
              <a:rPr lang="en-IN" smtClean="0"/>
              <a:t>25-10-2026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7665E0-0147-82E6-FD1B-1F2E98E7BE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188A61-DCF2-81F4-0263-D769ABF7C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22FB2-3071-4352-B8E4-3C2B5D4CC9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74474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DC4C144-3602-8C88-9D01-4E8991A97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94E28-7A79-45D1-A600-1A0D8A683E63}" type="datetime1">
              <a:rPr lang="en-IN" smtClean="0"/>
              <a:t>25-10-2026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D6D17B-17E4-B6FF-C4BC-47FF94DE8F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EA1A35-823B-EEEF-33C3-3DE227C57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22FB2-3071-4352-B8E4-3C2B5D4CC9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76372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893C3-07EC-88BD-947A-64B8AA8A1A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F615CE-BCC0-3507-5E91-56098EB0CD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C6C8BC-EF54-22DB-3AED-11C1D1217B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F585C7-D470-F786-BEA4-B437BFEEBF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ED72-D60F-4540-8B63-91B0376E508A}" type="datetime1">
              <a:rPr lang="en-IN" smtClean="0"/>
              <a:t>25-10-2026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2A92C9-C96F-B523-8221-ADE096999B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0860A9-C358-6E03-3B13-409730FA6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22FB2-3071-4352-B8E4-3C2B5D4CC9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26338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C1CC4-2281-C73C-81AC-459D068CE2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53CE7AA-B124-01D2-8BCC-A380850560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637958-6C7D-0CEC-9CC3-120AF58D6F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84D23D-0F48-7A6D-8641-93BDA94923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84B56-0180-4ACF-94B3-F6B1451EF11B}" type="datetime1">
              <a:rPr lang="en-IN" smtClean="0"/>
              <a:t>25-10-2026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906A48-2D21-0A49-1D4F-EE736501A6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336D1E-F88D-85CB-46D1-8C55382D5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22FB2-3071-4352-B8E4-3C2B5D4CC9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27043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6D9CA-93ED-2E5B-4037-D29458876D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EA586C-6EF8-1F2B-89B3-F95F101E90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4CB0E8-0B29-BE59-5B22-AEC9D61FA2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9BB26-F55C-4696-8515-1F67E48B026D}" type="datetime1">
              <a:rPr lang="en-IN" smtClean="0"/>
              <a:t>25-10-2026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45E944-BBDF-65E9-380E-D5ECB72886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B579F-3C51-0BD8-9B5E-6608F73BD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22FB2-3071-4352-B8E4-3C2B5D4CC9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4179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C58D9B5-33F3-2B95-E9F8-C8A5B8BE71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375976-E645-6D1C-B612-8B9767B7C0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1B88B6-14BE-4E1C-5D54-A2ED3B9B08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D705E-8A23-4426-BF83-CAF0DC67B5A0}" type="datetime1">
              <a:rPr lang="en-IN" smtClean="0"/>
              <a:t>25-10-2026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3AC205-B125-D59E-1427-E517B1464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606E40-A46E-A803-3E7D-3BCB9981B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22FB2-3071-4352-B8E4-3C2B5D4CC9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0235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5AC7A61-FD8B-3C8D-D2BE-1CF8D97A4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9A970A-DC71-20BF-B9A2-997C0C063D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9C678F-4AB6-3BB2-028B-DE8AE9242A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DC27B3-D014-4320-BE56-65301268B7B3}" type="datetime1">
              <a:rPr lang="en-IN" smtClean="0"/>
              <a:t>25-10-2026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30B05E-13E1-41EC-4E78-E729901B2A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897437-2E82-B4CB-508A-98F434E7C2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822FB2-3071-4352-B8E4-3C2B5D4CC9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29701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link.springer.com/article/10.1007/s10462-023-10424-4?utm_source=chatgpt.com" TargetMode="External"/><Relationship Id="rId3" Type="http://schemas.openxmlformats.org/officeDocument/2006/relationships/hyperlink" Target="https://www.sciencedirect.com/science/article/pii/S2542660524002634?utm_source=chatgpt.com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648C0-4270-4271-844F-81F54C88E1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7590" y="1234440"/>
            <a:ext cx="10515600" cy="1097280"/>
          </a:xfrm>
        </p:spPr>
        <p:txBody>
          <a:bodyPr>
            <a:noAutofit/>
          </a:bodyPr>
          <a:lstStyle/>
          <a:p>
            <a:pPr algn="ctr">
              <a:spcAft>
                <a:spcPts val="400"/>
              </a:spcAft>
            </a:pPr>
            <a:r>
              <a:rPr b="1" sz="2600"/>
              <a:t>DATA MINING LABORATORY - ADA23CL302</a:t>
            </a:r>
          </a:p>
          <a:p>
            <a:pPr algn="ctr">
              <a:spcAft>
                <a:spcPts val="0"/>
              </a:spcAft>
            </a:pPr>
            <a:r>
              <a:rPr b="0" sz="2000"/>
              <a:t>Final Assessment Project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D9A9510-5648-445E-1EBE-FB04090590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7316" y="153678"/>
            <a:ext cx="5334318" cy="969462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79A721-D4A1-1A66-C833-3EAF26B8A96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7590" y="6355994"/>
            <a:ext cx="2743200" cy="364845"/>
          </a:xfrm>
        </p:spPr>
        <p:txBody>
          <a:bodyPr/>
          <a:lstStyle/>
          <a:p>
            <a:fld id="{39A90978-40C5-4CB1-B6F1-54AF311FFA85}" type="datetime1">
              <a:rPr lang="en-IN" smtClean="0"/>
              <a:t>25-10-2026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8C7BEA-8E7A-F49B-7304-9C9F47973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09990" y="6355994"/>
            <a:ext cx="2743200" cy="364845"/>
          </a:xfrm>
        </p:spPr>
        <p:txBody>
          <a:bodyPr/>
          <a:lstStyle/>
          <a:p>
            <a:fld id="{C2822FB2-3071-4352-B8E4-3C2B5D4CC972}" type="slidenum">
              <a:rPr lang="en-IN" smtClean="0"/>
              <a:t>1</a:t>
            </a:fld>
            <a:endParaRPr lang="en-IN" dirty="0"/>
          </a:p>
        </p:txBody>
      </p:sp>
      <p:sp>
        <p:nvSpPr>
          <p:cNvPr id="6" name="Label Project Type / Domain:"/>
          <p:cNvSpPr txBox="1"/>
          <p:nvPr/>
        </p:nvSpPr>
        <p:spPr>
          <a:xfrm>
            <a:off x="837590" y="2606040"/>
            <a:ext cx="329184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400"/>
              </a:spcAft>
            </a:pPr>
            <a:r>
              <a:rPr sz="2200" b="1"/>
              <a:t>Project Type / Domain:</a:t>
            </a:r>
          </a:p>
        </p:txBody>
      </p:sp>
      <p:sp>
        <p:nvSpPr>
          <p:cNvPr id="7" name="Value Project Type / Domain:"/>
          <p:cNvSpPr txBox="1"/>
          <p:nvPr/>
        </p:nvSpPr>
        <p:spPr>
          <a:xfrm>
            <a:off x="4206240" y="2606040"/>
            <a:ext cx="7147864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600"/>
              </a:spcAft>
            </a:pPr>
            <a:r>
              <a:rPr sz="2000"/>
              <a:t>Internal / Cybersecurity &amp; Machine Learning</a:t>
            </a:r>
          </a:p>
        </p:txBody>
      </p:sp>
      <p:sp>
        <p:nvSpPr>
          <p:cNvPr id="8" name="Label Project Title:"/>
          <p:cNvSpPr txBox="1"/>
          <p:nvPr/>
        </p:nvSpPr>
        <p:spPr>
          <a:xfrm>
            <a:off x="837590" y="3154680"/>
            <a:ext cx="3291840" cy="914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400"/>
              </a:spcAft>
            </a:pPr>
            <a:r>
              <a:rPr sz="2200" b="1"/>
              <a:t>Project Title:</a:t>
            </a:r>
          </a:p>
        </p:txBody>
      </p:sp>
      <p:sp>
        <p:nvSpPr>
          <p:cNvPr id="9" name="Value Project Title:"/>
          <p:cNvSpPr txBox="1"/>
          <p:nvPr/>
        </p:nvSpPr>
        <p:spPr>
          <a:xfrm>
            <a:off x="4206240" y="3154680"/>
            <a:ext cx="7147864" cy="11887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600"/>
              </a:spcAft>
            </a:pPr>
            <a:r>
              <a:rPr sz="2100"/>
              <a:t>Real-Time Network Intrusion and Anomaly Detection Using Machine Learning and Deep Learning</a:t>
            </a:r>
            <a:endParaRPr sz="2400" b="0" dirty="0"/>
          </a:p>
        </p:txBody>
      </p:sp>
      <p:sp>
        <p:nvSpPr>
          <p:cNvPr id="10" name="Label Presented By:"/>
          <p:cNvSpPr txBox="1"/>
          <p:nvPr/>
        </p:nvSpPr>
        <p:spPr>
          <a:xfrm>
            <a:off x="837590" y="4526280"/>
            <a:ext cx="3291840" cy="914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400"/>
              </a:spcAft>
            </a:pPr>
            <a:r>
              <a:rPr sz="2200" b="1"/>
              <a:t>Presented By:</a:t>
            </a:r>
          </a:p>
        </p:txBody>
      </p:sp>
      <p:sp>
        <p:nvSpPr>
          <p:cNvPr id="11" name="Value Presented By:"/>
          <p:cNvSpPr txBox="1"/>
          <p:nvPr/>
        </p:nvSpPr>
        <p:spPr>
          <a:xfrm>
            <a:off x="4206240" y="4526280"/>
            <a:ext cx="7147864" cy="914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600"/>
              </a:spcAft>
            </a:pPr>
            <a:r>
              <a:rPr sz="2000"/>
              <a:t>Bharathram K (Reg. No: E0324006)</a:t>
            </a:r>
          </a:p>
        </p:txBody>
      </p:sp>
      <p:sp>
        <p:nvSpPr>
          <p:cNvPr id="12" name="Label Guided by:"/>
          <p:cNvSpPr txBox="1"/>
          <p:nvPr/>
        </p:nvSpPr>
        <p:spPr>
          <a:xfrm>
            <a:off x="837590" y="5623560"/>
            <a:ext cx="329184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400"/>
              </a:spcAft>
            </a:pPr>
            <a:r>
              <a:rPr sz="2200" b="1"/>
              <a:t>Guided by:</a:t>
            </a:r>
          </a:p>
        </p:txBody>
      </p:sp>
      <p:sp>
        <p:nvSpPr>
          <p:cNvPr id="13" name="Value Guided by:"/>
          <p:cNvSpPr txBox="1"/>
          <p:nvPr/>
        </p:nvSpPr>
        <p:spPr>
          <a:xfrm>
            <a:off x="4206240" y="5623560"/>
            <a:ext cx="7147864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600"/>
              </a:spcAft>
            </a:pPr>
            <a:r>
              <a:rPr sz="2000"/>
              <a:t>Prof. P. Deepika, Assistant Professor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3649433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51137-E653-64F7-9793-4BE0D0308A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590" y="365760"/>
            <a:ext cx="10515600" cy="914400"/>
          </a:xfrm>
        </p:spPr>
        <p:txBody>
          <a:bodyPr wrap="square" anchor="ctr">
            <a:noAutofit/>
          </a:bodyPr>
          <a:lstStyle/>
          <a:p>
            <a:pPr algn="l"/>
            <a:r>
              <a:rPr lang="en-IN" sz="3600" b="0" dirty="0">
                <a:latin typeface="+mn-lt" panose="020B0502040204020203" pitchFamily="34" charset="0"/>
                <a:cs typeface="Segoe UI" panose="020B0502040204020203" pitchFamily="34" charset="0"/>
              </a:rPr>
              <a:t>Contents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B6CC63-EAC3-97F8-897E-2AA571D031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7590" y="1508760"/>
            <a:ext cx="5120640" cy="4572000"/>
          </a:xfrm>
        </p:spPr>
        <p:txBody>
          <a:bodyPr wrap="square">
            <a:no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800"/>
              <a:t>1. Introduction (Threat Landscape &amp; NIDS)</a:t>
            </a:r>
          </a:p>
          <a:p>
            <a:pPr>
              <a:spcAft>
                <a:spcPts val="1000"/>
              </a:spcAft>
            </a:pPr>
            <a:r>
              <a:rPr sz="1800"/>
              <a:t>2. Problem Statement (Imbalance &amp; Zero-Days)</a:t>
            </a:r>
          </a:p>
          <a:p>
            <a:pPr>
              <a:spcAft>
                <a:spcPts val="1000"/>
              </a:spcAft>
            </a:pPr>
            <a:r>
              <a:rPr sz="1800"/>
              <a:t>3. Literature Survey (Benchmark Research)</a:t>
            </a:r>
          </a:p>
          <a:p>
            <a:pPr>
              <a:spcAft>
                <a:spcPts val="1000"/>
              </a:spcAft>
            </a:pPr>
            <a:r>
              <a:rPr sz="1800"/>
              <a:t>4. Objectives (Dual-Engine Framework)</a:t>
            </a:r>
          </a:p>
          <a:p>
            <a:pPr>
              <a:spcAft>
                <a:spcPts val="1000"/>
              </a:spcAft>
            </a:pPr>
            <a:r>
              <a:rPr sz="1800"/>
              <a:t>5. Workflow Diagram (Pipeline Architecture)</a:t>
            </a:r>
          </a:p>
          <a:p>
            <a:pPr>
              <a:spcAft>
                <a:spcPts val="1000"/>
              </a:spcAft>
            </a:pPr>
            <a:r>
              <a:rPr sz="1800"/>
              <a:t>6. Methodology (KDD &amp; Preprocessing)</a:t>
            </a:r>
          </a:p>
          <a:p>
            <a:pPr>
              <a:spcAft>
                <a:spcPts val="1000"/>
              </a:spcAft>
            </a:pPr>
            <a:r>
              <a:rPr sz="1800"/>
              <a:t>7. Tools and Techniques (ML, DL &amp; Flask Stack)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D5A906B0-7E00-104A-E40A-2EA00920EBCE}"/>
              </a:ext>
            </a:extLst>
          </p:cNvPr>
          <p:cNvSpPr txBox="1">
            <a:spLocks/>
          </p:cNvSpPr>
          <p:nvPr/>
        </p:nvSpPr>
        <p:spPr>
          <a:xfrm>
            <a:off x="6309360" y="1508760"/>
            <a:ext cx="5029200" cy="4572000"/>
          </a:xfrm>
          <a:prstGeom prst="rect">
            <a:avLst/>
          </a:prstGeom>
        </p:spPr>
        <p:txBody>
          <a:bodyPr wrap="square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800"/>
              <a:t>8. Implementation (Architecture &amp; Setup)</a:t>
            </a:r>
          </a:p>
          <a:p>
            <a:pPr>
              <a:spcAft>
                <a:spcPts val="1000"/>
              </a:spcAft>
            </a:pPr>
            <a:r>
              <a:rPr sz="1800"/>
              <a:t>9. Environment Setup (Hardware &amp; Execution)</a:t>
            </a:r>
          </a:p>
          <a:p>
            <a:pPr>
              <a:spcAft>
                <a:spcPts val="1000"/>
              </a:spcAft>
            </a:pPr>
            <a:r>
              <a:rPr sz="1800"/>
              <a:t>10. Evaluation Metrics (Validation Metrics)</a:t>
            </a:r>
          </a:p>
          <a:p>
            <a:pPr>
              <a:spcAft>
                <a:spcPts val="1000"/>
              </a:spcAft>
            </a:pPr>
            <a:r>
              <a:rPr sz="1800"/>
              <a:t>11. Result Analysis (Empirical Metrics)</a:t>
            </a:r>
          </a:p>
          <a:p>
            <a:pPr>
              <a:spcAft>
                <a:spcPts val="1000"/>
              </a:spcAft>
            </a:pPr>
            <a:r>
              <a:rPr sz="1800"/>
              <a:t>12. Conclusion (Key Findings &amp; Impact)</a:t>
            </a:r>
          </a:p>
          <a:p>
            <a:pPr>
              <a:spcAft>
                <a:spcPts val="1000"/>
              </a:spcAft>
            </a:pPr>
            <a:r>
              <a:rPr sz="1800"/>
              <a:t>13. Future Scope (Live NIC Sniffing)</a:t>
            </a:r>
          </a:p>
          <a:p>
            <a:pPr>
              <a:spcAft>
                <a:spcPts val="1000"/>
              </a:spcAft>
            </a:pPr>
            <a:r>
              <a:rPr sz="1800"/>
              <a:t>14. References (Academic &amp; IEEE Citations)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BCFCBEC0-D582-208F-CF0F-F1F77D6EE1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7590" y="6355994"/>
            <a:ext cx="2743200" cy="364845"/>
          </a:xfrm>
        </p:spPr>
        <p:txBody>
          <a:bodyPr/>
          <a:lstStyle/>
          <a:p>
            <a:fld id="{DFB1CC0E-8537-4F96-9045-5D1C7B66F6A3}" type="datetime1">
              <a:rPr lang="en-IN" smtClean="0"/>
              <a:t>25-10-2026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954C0C-4651-5047-1F22-59DBD775A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09990" y="6355994"/>
            <a:ext cx="2743200" cy="364845"/>
          </a:xfrm>
        </p:spPr>
        <p:txBody>
          <a:bodyPr/>
          <a:lstStyle/>
          <a:p>
            <a:fld id="{C2822FB2-3071-4352-B8E4-3C2B5D4CC972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96098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16088-C5B7-6801-68DF-2C4D18B083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590" y="365760"/>
            <a:ext cx="10515600" cy="914400"/>
          </a:xfrm>
        </p:spPr>
        <p:txBody>
          <a:bodyPr wrap="square" anchor="ctr">
            <a:noAutofit/>
          </a:bodyPr>
          <a:lstStyle/>
          <a:p>
            <a:pPr algn="l"/>
            <a:r>
              <a:rPr lang="en-IN" sz="3600" b="0" dirty="0">
                <a:latin typeface="+mn-lt"/>
              </a:rPr>
              <a:t>Introduction</a:t>
            </a:r>
            <a:endParaRPr lang="en-IN" dirty="0">
              <a:latin typeface="+mn-lt"/>
              <a:ea typeface="Calibri"/>
              <a:cs typeface="Calibri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08DFD-FACA-0EFE-EBD2-ABE2321EFC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7590" y="1366147"/>
            <a:ext cx="10515600" cy="4663440"/>
          </a:xfrm>
        </p:spPr>
        <p:txBody>
          <a:bodyPr vert="horz" wrap="square" lIns="91440" tIns="45720" rIns="91440" bIns="45720" rtlCol="0" anchor="t">
            <a:noAutofit/>
          </a:bodyPr>
          <a:lstStyle/>
          <a:p>
            <a:pPr algn="just">
              <a:spcAft>
                <a:spcPts val="1400"/>
              </a:spcAft>
            </a:pPr>
            <a:r>
              <a:rPr sz="1900"/>
              <a:t>Modern enterprise networks face an unprecedented volume of sophisticated cyber threats, ranging from polymorphic exploits to high-velocity volumetric denial-of-service attacks. Traditional signature-based Network Intrusion Detection Systems (NIDS) rely on rigid rule tables that fail completely against novel zero-day attacks and evasive techniques.</a:t>
            </a:r>
          </a:p>
          <a:p>
            <a:pPr>
              <a:spcAft>
                <a:spcPts val="1400"/>
              </a:spcAft>
            </a:pPr>
            <a:r>
              <a:rPr sz="1900"/>
              <a:t>Supervised machine learning improves known attack classification, but struggles with extreme real-world class imbalance, concept drift, and severe Security Operations Center (SOC) alert fatigue. To bridge this gap, this project develops an end-to-end data mining and machine learning framework using the UNSW-NB15 benchmark dataset (45 flow attributes). It introduces a complementary dual-engine detection architecture combining a supervised Random Forest classifier for high-precision known attack classification with a semi-supervised PyTorch Deep Autoencoder trained strictly on normal traffic to detect out-of-distribution zero-day anomalies.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E1A394-FF9D-1161-AFC5-CF4D8FB3DF3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7590" y="6355994"/>
            <a:ext cx="2743200" cy="364845"/>
          </a:xfrm>
        </p:spPr>
        <p:txBody>
          <a:bodyPr/>
          <a:lstStyle/>
          <a:p>
            <a:fld id="{26C21528-6881-453E-9696-D4A46595F4C0}" type="datetime1">
              <a:rPr lang="en-IN" smtClean="0"/>
              <a:t>25-10-2026</a:t>
            </a:fld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B4E2DA-1C29-7ADA-1F19-E79317861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09990" y="6355994"/>
            <a:ext cx="2743200" cy="364845"/>
          </a:xfrm>
        </p:spPr>
        <p:txBody>
          <a:bodyPr/>
          <a:lstStyle/>
          <a:p>
            <a:fld id="{C2822FB2-3071-4352-B8E4-3C2B5D4CC972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31526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3A36B-5937-927A-67AB-9018548BDD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590" y="365760"/>
            <a:ext cx="10515600" cy="914400"/>
          </a:xfrm>
        </p:spPr>
        <p:txBody>
          <a:bodyPr wrap="square" anchor="ctr">
            <a:noAutofit/>
          </a:bodyPr>
          <a:lstStyle/>
          <a:p>
            <a:pPr algn="l"/>
            <a:r>
              <a:rPr lang="en-IN" sz="3600" b="0" dirty="0">
                <a:latin typeface="+mn-lt"/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493F49-849F-609E-39FD-D408E0B626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7590" y="1508760"/>
            <a:ext cx="10515600" cy="4663440"/>
          </a:xfrm>
        </p:spPr>
        <p:txBody>
          <a:bodyPr wrap="square">
            <a:noAutofit/>
          </a:bodyPr>
          <a:lstStyle/>
          <a:p>
            <a:pPr marL="0" indent="0">
              <a:spcAft>
                <a:spcPts val="1000"/>
              </a:spcAft>
              <a:buNone/>
            </a:pPr>
            <a:r>
              <a:rPr sz="1700"/>
              <a:t>Conventional network intrusion detection systems suffer from four critical operational bottlenecks:</a:t>
            </a:r>
          </a:p>
          <a:p>
            <a:pPr>
              <a:spcAft>
                <a:spcPts val="1000"/>
              </a:spcAft>
            </a:pPr>
            <a:r>
              <a:rPr b="1" sz="1700"/>
              <a:t>1. Class Imbalance &amp; Alert Fatigue: </a:t>
            </a:r>
            <a:r>
              <a:rPr b="0" sz="1700"/>
              <a:t>Normal network flows vastly outnumber rare attacks in real networks. Naive models achieve deceptive 90%+ accuracy while generating thousands of false alarms, paralyzing security teams (the Accuracy Paradox).</a:t>
            </a:r>
          </a:p>
          <a:p>
            <a:pPr>
              <a:spcAft>
                <a:spcPts val="1000"/>
              </a:spcAft>
            </a:pPr>
            <a:r>
              <a:rPr b="1" sz="1700"/>
              <a:t>2. Inability to Detect Zero-Day Exploits: </a:t>
            </a:r>
            <a:r>
              <a:rPr b="0" sz="1700"/>
              <a:t>Purely supervised classifiers rely entirely on historical training labels and fail to detect novel attack variants or uncataloged vulnerabilities.</a:t>
            </a:r>
          </a:p>
          <a:p>
            <a:pPr>
              <a:spcAft>
                <a:spcPts val="1000"/>
              </a:spcAft>
            </a:pPr>
            <a:r>
              <a:rPr b="1" sz="1700"/>
              <a:t>3. Data Leakage &amp; Evaluation Bias: </a:t>
            </a:r>
            <a:r>
              <a:rPr b="0" sz="1700"/>
              <a:t>Preprocessing encoders and scalers fitted across entire datasets leak test distribution statistics, producing artificially inflated research metrics that collapse in production.</a:t>
            </a:r>
          </a:p>
          <a:p>
            <a:pPr>
              <a:spcAft>
                <a:spcPts val="1000"/>
              </a:spcAft>
            </a:pPr>
            <a:r>
              <a:rPr b="1" sz="1700"/>
              <a:t>4. Operational Deployment Void: </a:t>
            </a:r>
            <a:r>
              <a:rPr b="0" sz="1700"/>
              <a:t>Most academic research remains static offline scripts lacking real-time stream replay, multi-model consensus arbitration, or actionable SOC dashboard interfaces.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E74148-A742-A25A-805D-48A2B604175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7590" y="6355994"/>
            <a:ext cx="2743200" cy="364845"/>
          </a:xfrm>
        </p:spPr>
        <p:txBody>
          <a:bodyPr/>
          <a:lstStyle/>
          <a:p>
            <a:fld id="{3AB6E848-C34D-46EE-AFEE-B494FA258BB3}" type="datetime1">
              <a:rPr lang="en-IN" smtClean="0"/>
              <a:t>25-10-2026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328AD5-068E-6E79-1258-C60375FB8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09990" y="6355994"/>
            <a:ext cx="2743200" cy="364845"/>
          </a:xfrm>
        </p:spPr>
        <p:txBody>
          <a:bodyPr/>
          <a:lstStyle/>
          <a:p>
            <a:fld id="{C2822FB2-3071-4352-B8E4-3C2B5D4CC972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47863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D8F4DA-495C-D1AC-49C8-0532328E4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590" y="365760"/>
            <a:ext cx="10515600" cy="914400"/>
          </a:xfrm>
        </p:spPr>
        <p:txBody>
          <a:bodyPr wrap="square" anchor="ctr">
            <a:noAutofit/>
          </a:bodyPr>
          <a:lstStyle/>
          <a:p>
            <a:pPr algn="l"/>
            <a:r>
              <a:rPr lang="en-IN" sz="3600" b="0" dirty="0">
                <a:latin typeface="+mn-lt"/>
              </a:rPr>
              <a:t>Literature Survey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E0F39239-3D32-258A-E9D0-65EA0B6ECFF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15499059"/>
              </p:ext>
            </p:extLst>
          </p:nvPr>
        </p:nvGraphicFramePr>
        <p:xfrm>
          <a:off x="837590" y="1417320"/>
          <a:ext cx="105156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373999984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22607034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4204565767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1660913277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3767167159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>
                        <a:defRPr sz="1200" b="1">
                          <a:latin typeface="Calibri"/>
                        </a:defRPr>
                      </a:pPr>
                      <a:r>
                        <a:t>Research Paper Title and Year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latin typeface="Calibri"/>
                        </a:defRPr>
                      </a:pPr>
                      <a:r>
                        <a:t>Author Name and Publication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latin typeface="Calibri"/>
                        </a:defRPr>
                      </a:pPr>
                      <a:r>
                        <a:t>Methodology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latin typeface="Calibri"/>
                        </a:defRPr>
                      </a:pPr>
                      <a:r>
                        <a:t>Advantages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latin typeface="Calibri"/>
                        </a:defRPr>
                      </a:pPr>
                      <a:r>
                        <a:t>Limitations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29781056"/>
                  </a:ext>
                </a:extLst>
              </a:tr>
              <a:tr h="1325880"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UNSW-NB15: A Comprehensive Data Set for NIDS (2015)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N. Moustafa &amp; J. Slay, MilCIS / IEEE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Synthesized realistic modern attacks &amp; normal flows using IXIA PerfectStorm across 45 features.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Realistic modern attack vectors; diverse protocols; overcomes legacy KDD99/NSL-KDD flaws.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Complex feature space &amp; severe class imbalance require zero-leakage preprocessing.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00217281"/>
                  </a:ext>
                </a:extLst>
              </a:tr>
              <a:tr h="1325880"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Random Forests for Network Intrusion Detection (2003)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J. Zhang, M. Zulkernine et al., IEEE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Ensemble of 100 decorrelated decision trees with Gini split criteria and out-of-bag validation.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High precision and recall on known attacks; provides feature importance ranking.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Supervised paradigm fails against uncataloged zero-day attacks absent from training.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93204580"/>
                  </a:ext>
                </a:extLst>
              </a:tr>
              <a:tr h="1325880"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Kitsune: Ensemble of Autoencoders for Online NIDS (2018)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Y. Mirsky et al., NDSS / IEEE S&amp;P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Neural bottleneck autoencoders trained on benign traffic to detect reconstruction anomalies.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Detects novel zero-day attacks without prior attack signatures or labels.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Higher false positive rate on complex normal flows; requires careful threshold tuning.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8803807"/>
                  </a:ext>
                </a:extLst>
              </a:tr>
            </a:tbl>
          </a:graphicData>
        </a:graphic>
      </p:graphicFrame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2DE4EF-897D-999D-9D4A-F2CC7890970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7590" y="6355994"/>
            <a:ext cx="2743200" cy="364845"/>
          </a:xfrm>
        </p:spPr>
        <p:txBody>
          <a:bodyPr/>
          <a:lstStyle/>
          <a:p>
            <a:fld id="{675148B0-4086-444B-A722-26789A071941}" type="datetime1">
              <a:rPr lang="en-IN" smtClean="0"/>
              <a:t>25-10-2026</a:t>
            </a:fld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94B59F-0073-1E3F-EEC5-3959B6EC8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09990" y="6355994"/>
            <a:ext cx="2743200" cy="364845"/>
          </a:xfrm>
        </p:spPr>
        <p:txBody>
          <a:bodyPr/>
          <a:lstStyle/>
          <a:p>
            <a:fld id="{C2822FB2-3071-4352-B8E4-3C2B5D4CC972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34883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555355-C004-15AF-003F-4566047B2B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590" y="365760"/>
            <a:ext cx="10515600" cy="914400"/>
          </a:xfrm>
        </p:spPr>
        <p:txBody>
          <a:bodyPr wrap="square" anchor="ctr">
            <a:noAutofit/>
          </a:bodyPr>
          <a:lstStyle/>
          <a:p>
            <a:pPr algn="l"/>
            <a:r>
              <a:rPr lang="en-IN" sz="3600" b="0" dirty="0">
                <a:latin typeface="+mn-lt"/>
              </a:rPr>
              <a:t>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F763C9-3CE9-6A3B-6862-A7F72495E6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7590" y="1508760"/>
            <a:ext cx="10515600" cy="4663440"/>
          </a:xfrm>
        </p:spPr>
        <p:txBody>
          <a:bodyPr wrap="square">
            <a:noAutofit/>
          </a:bodyPr>
          <a:lstStyle/>
          <a:p>
            <a:pPr lvl="0">
              <a:spcAft>
                <a:spcPts val="1000"/>
              </a:spcAft>
            </a:pPr>
            <a:r>
              <a:rPr b="1" sz="1700"/>
              <a:t>1. Stratified Benchmark Ingestion: </a:t>
            </a:r>
            <a:r>
              <a:rPr b="0" sz="1700"/>
              <a:t>Ingest and profile the UNSW-NB15 dataset (257k full / 20k stratified laptop sample) with strict zero-leakage pipeline design.</a:t>
            </a:r>
          </a:p>
          <a:p>
            <a:pPr>
              <a:spcAft>
                <a:spcPts val="1000"/>
              </a:spcAft>
            </a:pPr>
            <a:r>
              <a:rPr b="1" sz="1700"/>
              <a:t>2. Supervised Pattern Classification: </a:t>
            </a:r>
            <a:r>
              <a:rPr b="0" sz="1700"/>
              <a:t>Train and optimize a 100-tree Supervised Random Forest Classifier with balanced class weighting to maximize detection recall on known attack patterns.</a:t>
            </a:r>
          </a:p>
          <a:p>
            <a:pPr>
              <a:spcAft>
                <a:spcPts val="1000"/>
              </a:spcAft>
            </a:pPr>
            <a:r>
              <a:rPr b="1" sz="1700"/>
              <a:t>3. Semi-Supervised Anomaly Detection: </a:t>
            </a:r>
            <a:r>
              <a:rPr b="0" sz="1700"/>
              <a:t>Engineer a deep PyTorch Autoencoder (42-D -&gt; 64 -&gt; 32 -&gt; 16 -&gt; 32 -&gt; 64 -&gt; 42-D) trained strictly on benign traffic to establish an out-of-distribution reconstruction cutoff.</a:t>
            </a:r>
          </a:p>
          <a:p>
            <a:pPr>
              <a:spcAft>
                <a:spcPts val="1000"/>
              </a:spcAft>
            </a:pPr>
            <a:r>
              <a:rPr b="1" sz="1700"/>
              <a:t>4. Comprehensive Multi-Metric Evaluation: </a:t>
            </a:r>
            <a:r>
              <a:rPr b="0" sz="1700"/>
              <a:t>Evaluate detection performance across Precision, Recall, F1-Score, False Positive Rate (FPR), ROC-AUC, and PR-AUC, resolving the Accuracy Paradox.</a:t>
            </a:r>
          </a:p>
          <a:p>
            <a:pPr>
              <a:spcAft>
                <a:spcPts val="1000"/>
              </a:spcAft>
            </a:pPr>
            <a:r>
              <a:rPr b="1" sz="1700"/>
              <a:t>5. Interactive Flask SOC Deployment: </a:t>
            </a:r>
            <a:r>
              <a:rPr b="0" sz="1700"/>
              <a:t>Deploy an interactive Flask SOC web dashboard featuring batch CSV prediction, dual-engine threat consensus alerting (NORMAL, SUSPICIOUS, CRITICAL), and dataset-based stream replay simulation.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2A2636-0577-44E3-7EBB-5EE3B276AE8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7590" y="6355994"/>
            <a:ext cx="2743200" cy="364845"/>
          </a:xfrm>
        </p:spPr>
        <p:txBody>
          <a:bodyPr/>
          <a:lstStyle/>
          <a:p>
            <a:fld id="{CB17FC35-FCD8-4FBB-A132-BDAA39EAB7FA}" type="datetime1">
              <a:rPr lang="en-IN" smtClean="0"/>
              <a:t>25-10-2026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0A39E5-DDB1-4167-7E8A-D7C788549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09990" y="6355994"/>
            <a:ext cx="2743200" cy="364845"/>
          </a:xfrm>
        </p:spPr>
        <p:txBody>
          <a:bodyPr/>
          <a:lstStyle/>
          <a:p>
            <a:fld id="{C2822FB2-3071-4352-B8E4-3C2B5D4CC972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73763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82C82A-9362-FEE1-0A9A-174D574576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3422BB-20AC-9EFB-8A72-CF846AEE0B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590" y="365760"/>
            <a:ext cx="10515600" cy="914400"/>
          </a:xfrm>
        </p:spPr>
        <p:txBody>
          <a:bodyPr wrap="square" anchor="ctr">
            <a:noAutofit/>
          </a:bodyPr>
          <a:lstStyle/>
          <a:p>
            <a:pPr algn="l"/>
            <a:r>
              <a:rPr sz="3600" b="0">
                <a:latin typeface="+mn-lt"/>
              </a:rPr>
              <a:t>Workflow Diagram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0FAD30-3ED3-274D-B6F3-37EC48E41F5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7590" y="6355994"/>
            <a:ext cx="2743200" cy="364845"/>
          </a:xfrm>
        </p:spPr>
        <p:txBody>
          <a:bodyPr/>
          <a:lstStyle/>
          <a:p>
            <a:fld id="{A9FA1B11-92D1-443B-99F4-6E0C24959B5D}" type="datetime1">
              <a:rPr lang="en-IN" smtClean="0"/>
              <a:t>25-10-2026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AC8739-FBEE-6328-E7A8-19F788A74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09990" y="6355994"/>
            <a:ext cx="2743200" cy="364845"/>
          </a:xfrm>
        </p:spPr>
        <p:txBody>
          <a:bodyPr/>
          <a:lstStyle/>
          <a:p>
            <a:fld id="{C2822FB2-3071-4352-B8E4-3C2B5D4CC972}" type="slidenum">
              <a:rPr lang="en-IN" smtClean="0"/>
              <a:t>7</a:t>
            </a:fld>
            <a:endParaRPr lang="en-IN"/>
          </a:p>
        </p:txBody>
      </p:sp>
      <p:sp>
        <p:nvSpPr>
          <p:cNvPr id="8" name="Rounded Rectangle 7"/>
          <p:cNvSpPr/>
          <p:nvPr/>
        </p:nvSpPr>
        <p:spPr>
          <a:xfrm>
            <a:off x="837590" y="1417320"/>
            <a:ext cx="2354580" cy="1143000"/>
          </a:xfrm>
          <a:prstGeom prst="roundRect">
            <a:avLst>
              <a:gd name="adj" fmla="val 8000"/>
            </a:avLst>
          </a:prstGeom>
          <a:solidFill>
            <a:schemeClr val="accent1">
              <a:lumMod val="20000"/>
              <a:lumOff val="80000"/>
            </a:schemeClr>
          </a:solidFill>
          <a:ln w="158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300"/>
              </a:spcAft>
            </a:pPr>
            <a:r>
              <a:rPr b="1" sz="1400"/>
              <a:t>1. Telemetry Ingestion</a:t>
            </a:r>
          </a:p>
          <a:p>
            <a:pPr algn="ctr">
              <a:spcAft>
                <a:spcPts val="0"/>
              </a:spcAft>
            </a:pPr>
            <a:r>
              <a:rPr b="0" sz="1150"/>
              <a:t>UNSW-NB15 flow data
&amp; packet features (45-D)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57930" y="1417320"/>
            <a:ext cx="2354580" cy="1143000"/>
          </a:xfrm>
          <a:prstGeom prst="roundRect">
            <a:avLst>
              <a:gd name="adj" fmla="val 8000"/>
            </a:avLst>
          </a:prstGeom>
          <a:solidFill>
            <a:schemeClr val="accent1">
              <a:lumMod val="20000"/>
              <a:lumOff val="80000"/>
            </a:schemeClr>
          </a:solidFill>
          <a:ln w="158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300"/>
              </a:spcAft>
            </a:pPr>
            <a:r>
              <a:rPr b="1" sz="1400"/>
              <a:t>2. Preprocess &amp; Clean</a:t>
            </a:r>
          </a:p>
          <a:p>
            <a:pPr algn="ctr">
              <a:spcAft>
                <a:spcPts val="0"/>
              </a:spcAft>
            </a:pPr>
            <a:r>
              <a:rPr b="0" sz="1150"/>
              <a:t>Median imputation &amp; missing
value sanitation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270" y="1417320"/>
            <a:ext cx="2354580" cy="1143000"/>
          </a:xfrm>
          <a:prstGeom prst="roundRect">
            <a:avLst>
              <a:gd name="adj" fmla="val 8000"/>
            </a:avLst>
          </a:prstGeom>
          <a:solidFill>
            <a:schemeClr val="accent1">
              <a:lumMod val="20000"/>
              <a:lumOff val="80000"/>
            </a:schemeClr>
          </a:solidFill>
          <a:ln w="158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300"/>
              </a:spcAft>
            </a:pPr>
            <a:r>
              <a:rPr b="1" sz="1400"/>
              <a:t>3. Zero-Leakage Pipeline</a:t>
            </a:r>
          </a:p>
          <a:p>
            <a:pPr algn="ctr">
              <a:spcAft>
                <a:spcPts val="0"/>
              </a:spcAft>
            </a:pPr>
            <a:r>
              <a:rPr b="0" sz="1150"/>
              <a:t>StandardScaler &amp; OneHot
Encoder (187-D space)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98610" y="1417320"/>
            <a:ext cx="2354580" cy="1143000"/>
          </a:xfrm>
          <a:prstGeom prst="roundRect">
            <a:avLst>
              <a:gd name="adj" fmla="val 8000"/>
            </a:avLst>
          </a:prstGeom>
          <a:solidFill>
            <a:schemeClr val="accent1">
              <a:lumMod val="20000"/>
              <a:lumOff val="80000"/>
            </a:schemeClr>
          </a:solidFill>
          <a:ln w="158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300"/>
              </a:spcAft>
            </a:pPr>
            <a:r>
              <a:rPr b="1" sz="1400"/>
              <a:t>4. Supervised RF Classifier</a:t>
            </a:r>
          </a:p>
          <a:p>
            <a:pPr algn="ctr">
              <a:spcAft>
                <a:spcPts val="0"/>
              </a:spcAft>
            </a:pPr>
            <a:r>
              <a:rPr b="0" sz="1150"/>
              <a:t>100 decorrelated trees for
known attack signatures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98610" y="2971800"/>
            <a:ext cx="2354580" cy="1143000"/>
          </a:xfrm>
          <a:prstGeom prst="roundRect">
            <a:avLst>
              <a:gd name="adj" fmla="val 8000"/>
            </a:avLst>
          </a:prstGeom>
          <a:solidFill>
            <a:schemeClr val="accent1">
              <a:lumMod val="20000"/>
              <a:lumOff val="80000"/>
            </a:schemeClr>
          </a:solidFill>
          <a:ln w="158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300"/>
              </a:spcAft>
            </a:pPr>
            <a:r>
              <a:rPr b="1" sz="1400"/>
              <a:t>5. PyTorch Autoencoder</a:t>
            </a:r>
          </a:p>
          <a:p>
            <a:pPr algn="ctr">
              <a:spcAft>
                <a:spcPts val="0"/>
              </a:spcAft>
            </a:pPr>
            <a:r>
              <a:rPr b="0" sz="1150"/>
              <a:t>Bottleneck neural manifold
trained on benign flows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78270" y="2971800"/>
            <a:ext cx="2354580" cy="1143000"/>
          </a:xfrm>
          <a:prstGeom prst="roundRect">
            <a:avLst>
              <a:gd name="adj" fmla="val 8000"/>
            </a:avLst>
          </a:prstGeom>
          <a:solidFill>
            <a:schemeClr val="accent1">
              <a:lumMod val="20000"/>
              <a:lumOff val="80000"/>
            </a:schemeClr>
          </a:solidFill>
          <a:ln w="158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300"/>
              </a:spcAft>
            </a:pPr>
            <a:r>
              <a:rPr b="1" sz="1400"/>
              <a:t>6. MSE Loss Thresholding</a:t>
            </a:r>
          </a:p>
          <a:p>
            <a:pPr algn="ctr">
              <a:spcAft>
                <a:spcPts val="0"/>
              </a:spcAft>
            </a:pPr>
            <a:r>
              <a:rPr b="0" sz="1150"/>
              <a:t>Calibrated 95th percentile
cutoff score (0.0865)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57930" y="2971800"/>
            <a:ext cx="2354580" cy="1143000"/>
          </a:xfrm>
          <a:prstGeom prst="roundRect">
            <a:avLst>
              <a:gd name="adj" fmla="val 8000"/>
            </a:avLst>
          </a:prstGeom>
          <a:solidFill>
            <a:schemeClr val="accent1">
              <a:lumMod val="20000"/>
              <a:lumOff val="80000"/>
            </a:schemeClr>
          </a:solidFill>
          <a:ln w="158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300"/>
              </a:spcAft>
            </a:pPr>
            <a:r>
              <a:rPr b="1" sz="1400"/>
              <a:t>7. Threat Consensus Arbiter</a:t>
            </a:r>
          </a:p>
          <a:p>
            <a:pPr algn="ctr">
              <a:spcAft>
                <a:spcPts val="0"/>
              </a:spcAft>
            </a:pPr>
            <a:r>
              <a:rPr b="0" sz="1150"/>
              <a:t>Hierarchical classification:
Normal, Suspicious, Critical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7590" y="2971800"/>
            <a:ext cx="2354580" cy="1143000"/>
          </a:xfrm>
          <a:prstGeom prst="roundRect">
            <a:avLst>
              <a:gd name="adj" fmla="val 8000"/>
            </a:avLst>
          </a:prstGeom>
          <a:solidFill>
            <a:schemeClr val="accent1">
              <a:lumMod val="20000"/>
              <a:lumOff val="80000"/>
            </a:schemeClr>
          </a:solidFill>
          <a:ln w="158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300"/>
              </a:spcAft>
            </a:pPr>
            <a:r>
              <a:rPr b="1" sz="1400"/>
              <a:t>8. Flask SOC Dashboard</a:t>
            </a:r>
          </a:p>
          <a:p>
            <a:pPr algn="ctr">
              <a:spcAft>
                <a:spcPts val="0"/>
              </a:spcAft>
            </a:pPr>
            <a:r>
              <a:rPr b="0" sz="1150"/>
              <a:t>Batch CSV prediction,
stream replay &amp; alerts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3228746" y="1842516"/>
            <a:ext cx="292608" cy="292608"/>
          </a:xfrm>
          <a:prstGeom prst="rightArrow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ight Arrow 16"/>
          <p:cNvSpPr/>
          <p:nvPr/>
        </p:nvSpPr>
        <p:spPr>
          <a:xfrm>
            <a:off x="5949086" y="1842516"/>
            <a:ext cx="292608" cy="292608"/>
          </a:xfrm>
          <a:prstGeom prst="rightArrow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ight Arrow 17"/>
          <p:cNvSpPr/>
          <p:nvPr/>
        </p:nvSpPr>
        <p:spPr>
          <a:xfrm>
            <a:off x="8669426" y="1842516"/>
            <a:ext cx="292608" cy="292608"/>
          </a:xfrm>
          <a:prstGeom prst="rightArrow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Left Arrow 18"/>
          <p:cNvSpPr/>
          <p:nvPr/>
        </p:nvSpPr>
        <p:spPr>
          <a:xfrm>
            <a:off x="8669426" y="3396996"/>
            <a:ext cx="292608" cy="292608"/>
          </a:xfrm>
          <a:prstGeom prst="leftArrow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Left Arrow 19"/>
          <p:cNvSpPr/>
          <p:nvPr/>
        </p:nvSpPr>
        <p:spPr>
          <a:xfrm>
            <a:off x="5949086" y="3396996"/>
            <a:ext cx="292608" cy="292608"/>
          </a:xfrm>
          <a:prstGeom prst="leftArrow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Left Arrow 20"/>
          <p:cNvSpPr/>
          <p:nvPr/>
        </p:nvSpPr>
        <p:spPr>
          <a:xfrm>
            <a:off x="3228746" y="3396996"/>
            <a:ext cx="292608" cy="292608"/>
          </a:xfrm>
          <a:prstGeom prst="leftArrow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Down Arrow 21"/>
          <p:cNvSpPr/>
          <p:nvPr/>
        </p:nvSpPr>
        <p:spPr>
          <a:xfrm>
            <a:off x="10029596" y="2619756"/>
            <a:ext cx="292608" cy="292608"/>
          </a:xfrm>
          <a:prstGeom prst="downArrow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37590" y="4343400"/>
            <a:ext cx="5074920" cy="1325880"/>
          </a:xfrm>
          <a:prstGeom prst="roundRect">
            <a:avLst>
              <a:gd name="adj" fmla="val 6000"/>
            </a:avLst>
          </a:prstGeom>
          <a:solidFill>
            <a:schemeClr val="bg2">
              <a:lumMod val="60000"/>
              <a:lumOff val="40000"/>
            </a:schemeClr>
          </a:solidFill>
          <a:ln w="12700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400"/>
              </a:spcAft>
            </a:pPr>
            <a:r>
              <a:rPr b="1" sz="1350"/>
              <a:t>Cross-Cutting: Integrity &amp; Leakage Prevention</a:t>
            </a:r>
          </a:p>
          <a:p>
            <a:pPr algn="l">
              <a:spcAft>
                <a:spcPts val="200"/>
              </a:spcAft>
            </a:pPr>
            <a:r>
              <a:rPr b="0" sz="1150"/>
              <a:t>- Strict fit-on-train preprocessor isolation (preprocessor.joblib)</a:t>
            </a:r>
          </a:p>
          <a:p>
            <a:pPr algn="l">
              <a:spcAft>
                <a:spcPts val="200"/>
              </a:spcAft>
            </a:pPr>
            <a:r>
              <a:rPr b="0" sz="1150"/>
              <a:t>- Target &amp; ID attributes ('label', 'attack_cat', 'id') strictly excluded</a:t>
            </a:r>
          </a:p>
          <a:p>
            <a:pPr algn="l">
              <a:spcAft>
                <a:spcPts val="0"/>
              </a:spcAft>
            </a:pPr>
            <a:r>
              <a:rPr b="0" sz="1150"/>
              <a:t>- Fixed random seed (42) for deterministic reproduction across runs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78270" y="4343400"/>
            <a:ext cx="5074920" cy="1325880"/>
          </a:xfrm>
          <a:prstGeom prst="roundRect">
            <a:avLst>
              <a:gd name="adj" fmla="val 6000"/>
            </a:avLst>
          </a:prstGeom>
          <a:solidFill>
            <a:schemeClr val="bg2">
              <a:lumMod val="60000"/>
              <a:lumOff val="40000"/>
            </a:schemeClr>
          </a:solidFill>
          <a:ln w="12700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400"/>
              </a:spcAft>
            </a:pPr>
            <a:r>
              <a:rPr b="1" sz="1350"/>
              <a:t>Cross-Cutting: Operational SOC Usability</a:t>
            </a:r>
          </a:p>
          <a:p>
            <a:pPr algn="l">
              <a:spcAft>
                <a:spcPts val="200"/>
              </a:spcAft>
            </a:pPr>
            <a:r>
              <a:rPr b="0" sz="1150"/>
              <a:t>- Dual-engine consensus eliminates single-model alert fatigue</a:t>
            </a:r>
          </a:p>
          <a:p>
            <a:pPr algn="l">
              <a:spcAft>
                <a:spcPts val="200"/>
              </a:spcAft>
            </a:pPr>
            <a:r>
              <a:rPr b="0" sz="1150"/>
              <a:t>- Vectorized batch scoring: 82,332 test records in 1.84 s (&lt; 25 us/flow)</a:t>
            </a:r>
          </a:p>
          <a:p>
            <a:pPr algn="l">
              <a:spcAft>
                <a:spcPts val="0"/>
              </a:spcAft>
            </a:pPr>
            <a:r>
              <a:rPr b="0" sz="1150"/>
              <a:t>- Configurable dataset-based replay simulation with delay controls</a:t>
            </a:r>
          </a:p>
        </p:txBody>
      </p:sp>
    </p:spTree>
    <p:extLst>
      <p:ext uri="{BB962C8B-B14F-4D97-AF65-F5344CB8AC3E}">
        <p14:creationId xmlns:p14="http://schemas.microsoft.com/office/powerpoint/2010/main" val="7598472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2B17B-8EB4-0936-CFD6-FDD313F151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590" y="365760"/>
            <a:ext cx="10515600" cy="914400"/>
          </a:xfrm>
        </p:spPr>
        <p:txBody>
          <a:bodyPr wrap="square" anchor="ctr">
            <a:noAutofit/>
          </a:bodyPr>
          <a:lstStyle/>
          <a:p>
            <a:pPr algn="l"/>
            <a:r>
              <a:rPr lang="en-IN" sz="3600" b="0" dirty="0">
                <a:latin typeface="+mn-lt"/>
              </a:rPr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D8856E-E5D1-1B65-6D25-58FB3F5507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7590" y="1508760"/>
            <a:ext cx="10515600" cy="4663440"/>
          </a:xfrm>
        </p:spPr>
        <p:txBody>
          <a:bodyPr wrap="square">
            <a:noAutofit/>
          </a:bodyPr>
          <a:lstStyle/>
          <a:p>
            <a:pPr marL="457200" lvl="0" indent="-457200">
              <a:spcAft>
                <a:spcPts val="1200"/>
              </a:spcAft>
              <a:buFont typeface="+mj-lt"/>
              <a:buAutoNum type="arabicPeriod"/>
            </a:pPr>
            <a:r>
              <a:rPr b="1" sz="1800"/>
              <a:t>KDD Data Selection &amp; Ingestion: </a:t>
            </a:r>
            <a:r>
              <a:rPr b="0" sz="1800"/>
              <a:t>Ingest UNSW-NB15 flow telemetry spanning 45 attributes across basic packet, content, temporal, and generated traffic metrics. Standard training (175,341 flows) and testing (82,332 flows) partitions are preserved alongside a stratified laptop research sample (15,000 train / 5,000 test).</a:t>
            </a:r>
          </a:p>
          <a:p>
            <a:pPr>
              <a:spcAft>
                <a:spcPts val="1200"/>
              </a:spcAft>
            </a:pPr>
            <a:r>
              <a:rPr b="1" sz="1800"/>
              <a:t>Data Cleaning &amp; Target Isolation: </a:t>
            </a:r>
            <a:r>
              <a:rPr b="0" sz="1800"/>
              <a:t>Replace infinite values (+/- inf) with NaN; impute numerical missing values with feature medians; impute categorical gaps with constant '-'. Database IDs ('id') and diagnostic labels ('attack_cat') are explicitly excluded from feature matrices to eliminate target leakage.</a:t>
            </a:r>
          </a:p>
          <a:p>
            <a:pPr>
              <a:spcAft>
                <a:spcPts val="1200"/>
              </a:spcAft>
            </a:pPr>
            <a:r>
              <a:rPr b="1" sz="1800"/>
              <a:t>Categorical Encoding &amp; Normalization: </a:t>
            </a:r>
            <a:r>
              <a:rPr b="0" sz="1800"/>
              <a:t>Apply OneHotEncoder(handle_unknown='ignore') to nominal attributes ('proto', 'service', 'state'), producing 145 binary indicators. Standardize all numerical features using StandardScaler fitted exclusively on training records, establishing a 187-dimensional normalized feature space.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4FA5B1-580D-E7E5-C4CB-A9A20973779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7590" y="6355994"/>
            <a:ext cx="2743200" cy="364845"/>
          </a:xfrm>
        </p:spPr>
        <p:txBody>
          <a:bodyPr/>
          <a:lstStyle/>
          <a:p>
            <a:fld id="{CB85E715-FBBD-45DF-91FB-5CC46E2C08C1}" type="datetime1">
              <a:rPr lang="en-IN" smtClean="0"/>
              <a:t>25-10-2026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3FD557-217B-E91D-B679-487CC2D4B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09990" y="6355994"/>
            <a:ext cx="2743200" cy="364845"/>
          </a:xfrm>
        </p:spPr>
        <p:txBody>
          <a:bodyPr/>
          <a:lstStyle/>
          <a:p>
            <a:fld id="{C2822FB2-3071-4352-B8E4-3C2B5D4CC972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58359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1AF38E-7083-44C0-399F-C9203B47EB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2B17B-8EB4-0936-CFD6-FDD313F151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590" y="365760"/>
            <a:ext cx="10515600" cy="914400"/>
          </a:xfrm>
        </p:spPr>
        <p:txBody>
          <a:bodyPr wrap="square" anchor="ctr">
            <a:noAutofit/>
          </a:bodyPr>
          <a:lstStyle/>
          <a:p>
            <a:pPr algn="l"/>
            <a:r>
              <a:rPr sz="3600" b="0">
                <a:latin typeface="+mn-lt"/>
              </a:rPr>
              <a:t>Methodology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A5FF49-5D6B-4DB0-9663-56C896D341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7590" y="1508760"/>
            <a:ext cx="10515600" cy="4663440"/>
          </a:xfrm>
        </p:spPr>
        <p:txBody>
          <a:bodyPr vert="horz" wrap="square" lIns="91440" tIns="45720" rIns="91440" bIns="45720" rtlCol="0" anchor="t">
            <a:noAutofit/>
          </a:bodyPr>
          <a:lstStyle/>
          <a:p>
            <a:pPr marL="457200" lvl="0" indent="-457200">
              <a:spcAft>
                <a:spcPts val="1200"/>
              </a:spcAft>
              <a:buFont typeface="+mj-lt"/>
              <a:buAutoNum type="arabicPeriod" startAt="4"/>
            </a:pPr>
            <a:r>
              <a:rPr b="1" sz="1800"/>
              <a:t>Supervised Random Forest Classifier: </a:t>
            </a:r>
            <a:r>
              <a:rPr b="0" sz="1800"/>
              <a:t>Configure 100 decorrelated decision trees (max_depth=15, class_weight='balanced') using Gini impurity. Subsamples features at each split node to capture complex non-linear attack boundaries and compute feature importance scores for known intrusion vectors.</a:t>
            </a:r>
          </a:p>
          <a:p>
            <a:pPr>
              <a:spcAft>
                <a:spcPts val="1200"/>
              </a:spcAft>
            </a:pPr>
            <a:r>
              <a:rPr b="1" sz="1800"/>
              <a:t>Semi-Supervised Deep Autoencoder (PyTorch): </a:t>
            </a:r>
            <a:r>
              <a:rPr b="0" sz="1800"/>
              <a:t>Construct a symmetric bottleneck neural network (D -&gt; 64 -&gt; 32 -&gt; 16 -&gt; 32 -&gt; 64 -&gt; D) with ReLU activations and Adam optimization (lr=0.001, batch_size=128, 20 epochs). Trained exclusively on normal benign network flows (label = 0) to compress normal communication manifolds.</a:t>
            </a:r>
          </a:p>
          <a:p>
            <a:pPr>
              <a:spcAft>
                <a:spcPts val="1200"/>
              </a:spcAft>
            </a:pPr>
            <a:r>
              <a:rPr b="1" sz="1800"/>
              <a:t>Anomaly Thresholding &amp; Threat Consensus: </a:t>
            </a:r>
            <a:r>
              <a:rPr b="0" sz="1800"/>
              <a:t>Calculate Mean Squared Error (MSE) reconstruction loss: L(x) = (1/D) * sum((x_i - x_hat_i)^2). Calibrate the anomaly decision cutoff at the 95th percentile of normal errors (0.0865). Combine outputs into a 3-tier threat consensus: NORMAL (both cleared), SUSPICIOUS (single engine flag), and CRITICAL INTRUSION (both triggered).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369111-9E24-7D9D-DFE3-3E75F5C1A24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7590" y="6355994"/>
            <a:ext cx="2743200" cy="364845"/>
          </a:xfrm>
        </p:spPr>
        <p:txBody>
          <a:bodyPr/>
          <a:lstStyle/>
          <a:p>
            <a:fld id="{CB85E715-FBBD-45DF-91FB-5CC46E2C08C1}" type="datetime1">
              <a:rPr lang="en-IN" smtClean="0"/>
              <a:t>25-10-2026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4C7600-7231-C012-B3E8-CD5F5AEFF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09990" y="6355994"/>
            <a:ext cx="2743200" cy="364845"/>
          </a:xfrm>
        </p:spPr>
        <p:txBody>
          <a:bodyPr/>
          <a:lstStyle/>
          <a:p>
            <a:fld id="{C2822FB2-3071-4352-B8E4-3C2B5D4CC972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71033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52EDE4-41F2-0DB2-11CA-1AF7569325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35EB6-DA44-574F-9005-B0A65517BA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590" y="365760"/>
            <a:ext cx="10515600" cy="914400"/>
          </a:xfrm>
        </p:spPr>
        <p:txBody>
          <a:bodyPr wrap="square" anchor="ctr">
            <a:noAutofit/>
          </a:bodyPr>
          <a:lstStyle/>
          <a:p>
            <a:pPr algn="l"/>
            <a:r>
              <a:rPr sz="3600" b="0">
                <a:latin typeface="+mn-lt"/>
              </a:rPr>
              <a:t>Tools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4EBA0A-4032-DF5E-1530-C2CCA71A00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7590" y="1508760"/>
            <a:ext cx="10515600" cy="4663440"/>
          </a:xfrm>
        </p:spPr>
        <p:txBody>
          <a:bodyPr wrap="square">
            <a:noAutofit/>
          </a:bodyPr>
          <a:lstStyle/>
          <a:p>
            <a:pPr lvl="0">
              <a:spcAft>
                <a:spcPts val="800"/>
              </a:spcAft>
            </a:pPr>
            <a:r>
              <a:rPr b="1" sz="1700"/>
              <a:t>Programming &amp; Runtime: </a:t>
            </a:r>
            <a:r>
              <a:rPr b="0" sz="1700"/>
              <a:t>Python 3.11 64-bit, PowerShell, Virtual Environment (.venv)</a:t>
            </a:r>
          </a:p>
          <a:p>
            <a:pPr>
              <a:spcAft>
                <a:spcPts val="800"/>
              </a:spcAft>
            </a:pPr>
            <a:r>
              <a:rPr b="1" sz="1700"/>
              <a:t>Data Manipulation &amp; Linear Algebra: </a:t>
            </a:r>
            <a:r>
              <a:rPr b="0" sz="1700"/>
              <a:t>NumPy, Pandas, SciPy</a:t>
            </a:r>
          </a:p>
          <a:p>
            <a:pPr>
              <a:spcAft>
                <a:spcPts val="800"/>
              </a:spcAft>
            </a:pPr>
            <a:r>
              <a:rPr b="1" sz="1700"/>
              <a:t>Machine Learning Engine: </a:t>
            </a:r>
            <a:r>
              <a:rPr b="0" sz="1700"/>
              <a:t>Scikit-Learn (RandomForestClassifier, StandardScaler, OneHotEncoder)</a:t>
            </a:r>
          </a:p>
          <a:p>
            <a:pPr>
              <a:spcAft>
                <a:spcPts val="800"/>
              </a:spcAft>
            </a:pPr>
            <a:r>
              <a:rPr b="1" sz="1700"/>
              <a:t>Deep Learning &amp; Neural Networks: </a:t>
            </a:r>
            <a:r>
              <a:rPr b="0" sz="1700"/>
              <a:t>PyTorch (Bottleneck Autoencoder, MSELoss, Adam Optimizer)</a:t>
            </a:r>
          </a:p>
          <a:p>
            <a:pPr>
              <a:spcAft>
                <a:spcPts val="800"/>
              </a:spcAft>
            </a:pPr>
            <a:r>
              <a:rPr b="1" sz="1700"/>
              <a:t>Pipeline Persistence: </a:t>
            </a:r>
            <a:r>
              <a:rPr b="0" sz="1700"/>
              <a:t>Joblib (serialization of fitted preprocessor and models)</a:t>
            </a:r>
          </a:p>
          <a:p>
            <a:pPr>
              <a:spcAft>
                <a:spcPts val="800"/>
              </a:spcAft>
            </a:pPr>
            <a:r>
              <a:rPr b="1" sz="1700"/>
              <a:t>Web Application &amp; REST API: </a:t>
            </a:r>
            <a:r>
              <a:rPr b="0" sz="1700"/>
              <a:t>Flask 3.0, Jinja2 Templates, Werkzeug WSGI</a:t>
            </a:r>
          </a:p>
          <a:p>
            <a:pPr>
              <a:spcAft>
                <a:spcPts val="800"/>
              </a:spcAft>
            </a:pPr>
            <a:r>
              <a:rPr b="1" sz="1700"/>
              <a:t>Frontend &amp; Visualization: </a:t>
            </a:r>
            <a:r>
              <a:rPr b="0" sz="1700"/>
              <a:t>HTML5, CSS3, Bootstrap 5.3, Bootstrap Icons, Chart.js</a:t>
            </a:r>
          </a:p>
          <a:p>
            <a:pPr>
              <a:spcAft>
                <a:spcPts val="800"/>
              </a:spcAft>
            </a:pPr>
            <a:r>
              <a:rPr b="1" sz="1700"/>
              <a:t>Diagnostic Plotting: </a:t>
            </a:r>
            <a:r>
              <a:rPr b="0" sz="1700"/>
              <a:t>Matplotlib, Seaborn (ROC Curves, Confusion Matrices, Loss Curves)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7925F4-02D6-B891-EE99-706D22E37FA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7590" y="6355994"/>
            <a:ext cx="2743200" cy="364845"/>
          </a:xfrm>
        </p:spPr>
        <p:txBody>
          <a:bodyPr/>
          <a:lstStyle/>
          <a:p>
            <a:fld id="{CB85E715-FBBD-45DF-91FB-5CC46E2C08C1}" type="datetime1">
              <a:rPr lang="en-IN" smtClean="0"/>
              <a:t>25-10-2026</a:t>
            </a:fld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24C399-5C54-C6E3-CD96-05AD45B2B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09990" y="6355994"/>
            <a:ext cx="2743200" cy="364845"/>
          </a:xfrm>
        </p:spPr>
        <p:txBody>
          <a:bodyPr/>
          <a:lstStyle/>
          <a:p>
            <a:fld id="{C2822FB2-3071-4352-B8E4-3C2B5D4CC972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24752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95E618-6E31-E780-A794-7BB5DEC003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AB6BA9-30B5-E78E-6BCF-CEED64936E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590" y="365760"/>
            <a:ext cx="10515600" cy="914400"/>
          </a:xfrm>
        </p:spPr>
        <p:txBody>
          <a:bodyPr wrap="square" anchor="ctr">
            <a:noAutofit/>
          </a:bodyPr>
          <a:lstStyle/>
          <a:p>
            <a:pPr algn="l"/>
            <a:r>
              <a:rPr sz="3600" b="0">
                <a:latin typeface="+mn-lt"/>
              </a:rPr>
              <a:t>Techniques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8FD552-81C5-89A8-8692-CBEEE3BE7D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7590" y="1508760"/>
            <a:ext cx="10515600" cy="4663440"/>
          </a:xfrm>
        </p:spPr>
        <p:txBody>
          <a:bodyPr wrap="square">
            <a:noAutofit/>
          </a:bodyPr>
          <a:lstStyle/>
          <a:p>
            <a:pPr>
              <a:spcAft>
                <a:spcPts val="900"/>
              </a:spcAft>
            </a:pPr>
            <a:r>
              <a:rPr b="1" sz="1700"/>
              <a:t>KDD Data Mining Methodology: </a:t>
            </a:r>
            <a:r>
              <a:rPr b="0" sz="1700"/>
              <a:t>Structured execution of Data Selection, Cleaning, Transformation, Modeling, and Diagnostic Evaluation.</a:t>
            </a:r>
          </a:p>
          <a:p>
            <a:pPr>
              <a:spcAft>
                <a:spcPts val="900"/>
              </a:spcAft>
            </a:pPr>
            <a:r>
              <a:rPr b="1" sz="1700"/>
              <a:t>Zero-Leakage Pipeline Architecture: </a:t>
            </a:r>
            <a:r>
              <a:rPr b="0" sz="1700"/>
              <a:t>Strict fit-on-train design ensuring scalers and encoders never observe test distributions or streaming data in advance.</a:t>
            </a:r>
          </a:p>
          <a:p>
            <a:pPr>
              <a:spcAft>
                <a:spcPts val="900"/>
              </a:spcAft>
            </a:pPr>
            <a:r>
              <a:rPr b="1" sz="1700"/>
              <a:t>Ensemble Decision Tree Bagging: </a:t>
            </a:r>
            <a:r>
              <a:rPr b="0" sz="1700"/>
              <a:t>Random feature subsampling and bootstrap aggregation to provide variance reduction and high recall on rare attack vectors.</a:t>
            </a:r>
          </a:p>
          <a:p>
            <a:pPr>
              <a:spcAft>
                <a:spcPts val="900"/>
              </a:spcAft>
            </a:pPr>
            <a:r>
              <a:rPr b="1" sz="1700"/>
              <a:t>Bottleneck Neural Manifold Learning: </a:t>
            </a:r>
            <a:r>
              <a:rPr b="0" sz="1700"/>
              <a:t>Low-dimensional latent feature compression for unsupervised out-of-distribution zero-day anomaly detection.</a:t>
            </a:r>
          </a:p>
          <a:p>
            <a:pPr>
              <a:spcAft>
                <a:spcPts val="900"/>
              </a:spcAft>
            </a:pPr>
            <a:r>
              <a:rPr b="1" sz="1700"/>
              <a:t>Dual-Engine Threat Consensus: </a:t>
            </a:r>
            <a:r>
              <a:rPr b="0" sz="1700"/>
              <a:t>Multi-tier decision arbitration balancing supervised precision with unsupervised anomaly sensitivity to eliminate alert fatigue.</a:t>
            </a:r>
          </a:p>
          <a:p>
            <a:pPr>
              <a:spcAft>
                <a:spcPts val="900"/>
              </a:spcAft>
            </a:pPr>
            <a:r>
              <a:rPr b="1" sz="1700"/>
              <a:t>Dataset-Based Stream Replay Simulation: </a:t>
            </a:r>
            <a:r>
              <a:rPr b="0" sz="1700"/>
              <a:t>Time-delayed client-server batch simulation demonstrating streaming detection without invasive live packet capture.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3C4E9D-D01A-8993-C03D-1B31F1EAADD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7590" y="6355994"/>
            <a:ext cx="2743200" cy="364845"/>
          </a:xfrm>
        </p:spPr>
        <p:txBody>
          <a:bodyPr/>
          <a:lstStyle/>
          <a:p>
            <a:fld id="{CB85E715-FBBD-45DF-91FB-5CC46E2C08C1}" type="datetime1">
              <a:rPr lang="en-IN" smtClean="0"/>
              <a:t>25-10-2026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76A505-781A-9C60-64FB-21AD153FF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09990" y="6355994"/>
            <a:ext cx="2743200" cy="364845"/>
          </a:xfrm>
        </p:spPr>
        <p:txBody>
          <a:bodyPr/>
          <a:lstStyle/>
          <a:p>
            <a:fld id="{C2822FB2-3071-4352-B8E4-3C2B5D4CC972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23149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D95BF-392B-3CDE-3C29-53BC2D3186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590" y="365760"/>
            <a:ext cx="10515600" cy="914400"/>
          </a:xfrm>
        </p:spPr>
        <p:txBody>
          <a:bodyPr wrap="square" anchor="ctr">
            <a:noAutofit/>
          </a:bodyPr>
          <a:lstStyle/>
          <a:p>
            <a:pPr algn="l"/>
            <a:r>
              <a:rPr sz="3600" b="0">
                <a:latin typeface="+mn-lt"/>
              </a:rPr>
              <a:t>Implementation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3DE7C4-DC78-09F5-F3F1-4D1A57C26FD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7590" y="6355994"/>
            <a:ext cx="2743200" cy="364845"/>
          </a:xfrm>
        </p:spPr>
        <p:txBody>
          <a:bodyPr/>
          <a:lstStyle/>
          <a:p>
            <a:fld id="{CE12AF49-BBC1-412E-861B-CF739ADC132D}" type="datetime1">
              <a:rPr lang="en-IN" smtClean="0"/>
              <a:t>25-10-2026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66A706-2FEC-9CD6-36AC-361E711A8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09990" y="6355994"/>
            <a:ext cx="2743200" cy="364845"/>
          </a:xfrm>
        </p:spPr>
        <p:txBody>
          <a:bodyPr/>
          <a:lstStyle/>
          <a:p>
            <a:fld id="{C2822FB2-3071-4352-B8E4-3C2B5D4CC972}" type="slidenum">
              <a:rPr lang="en-IN" smtClean="0"/>
              <a:t>12</a:t>
            </a:fld>
            <a:endParaRPr lang="en-IN"/>
          </a:p>
        </p:txBody>
      </p:sp>
      <p:sp>
        <p:nvSpPr>
          <p:cNvPr id="6" name="Dataset Description"/>
          <p:cNvSpPr txBox="1"/>
          <p:nvPr/>
        </p:nvSpPr>
        <p:spPr>
          <a:xfrm>
            <a:off x="746754" y="1198368"/>
            <a:ext cx="10697272" cy="466344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Autofit/>
          </a:bodyPr>
          <a:lstStyle/>
          <a:p>
            <a:pPr>
              <a:spcAft>
                <a:spcPts val="400"/>
              </a:spcAft>
            </a:pPr>
            <a:r>
              <a:rPr b="1" sz="2000"/>
              <a:t>System Architecture &amp; Pipeline Setup</a:t>
            </a:r>
          </a:p>
          <a:p>
            <a:pPr>
              <a:spcAft>
                <a:spcPts val="1200"/>
              </a:spcAft>
            </a:pPr>
            <a:r>
              <a:rPr b="0" sz="1600"/>
              <a:t>The system implements a defense-in-depth architecture combining a Supervised Random Forest Classifier (100 trees, balanced weighting) for signature matching with a Semi-Supervised PyTorch Deep Autoencoder (42-D -&gt; 64 -&gt; 32 -&gt; 16 -&gt; 32 -&gt; 64 -&gt; 42-D) trained exclusively on benign traffic to flag zero-day anomalies.</a:t>
            </a:r>
          </a:p>
          <a:p>
            <a:pPr>
              <a:spcAft>
                <a:spcPts val="400"/>
              </a:spcAft>
            </a:pPr>
            <a:r>
              <a:rPr b="1" sz="2000"/>
              <a:t>Telemetry &amp; Pipeline Setup</a:t>
            </a:r>
          </a:p>
          <a:p>
            <a:pPr>
              <a:spcAft>
                <a:spcPts val="600"/>
              </a:spcAft>
            </a:pPr>
            <a:r>
              <a:rPr b="1" sz="1600"/>
              <a:t>Dataset Attributes: </a:t>
            </a:r>
            <a:r>
              <a:rPr b="0" sz="1600"/>
              <a:t>45 total flow features (3 nominal protocols, 39 packet/flow metrics).</a:t>
            </a:r>
          </a:p>
          <a:p>
            <a:pPr>
              <a:spcAft>
                <a:spcPts val="600"/>
              </a:spcAft>
            </a:pPr>
            <a:r>
              <a:rPr b="1" sz="1600"/>
              <a:t>Transformed Dimension: </a:t>
            </a:r>
            <a:r>
              <a:rPr b="0" sz="1600"/>
              <a:t>187-dimensional one-hot encoded and standardized vector space.</a:t>
            </a:r>
          </a:p>
          <a:p>
            <a:pPr>
              <a:spcAft>
                <a:spcPts val="600"/>
              </a:spcAft>
            </a:pPr>
            <a:r>
              <a:rPr b="1" sz="1600"/>
              <a:t>Anomaly Cutoff: </a:t>
            </a:r>
            <a:r>
              <a:rPr b="0" sz="1600"/>
              <a:t>MSE reconstruction threshold calibrated at 0.0865 (95th percentile of normal flows).</a:t>
            </a:r>
          </a:p>
          <a:p>
            <a:pPr>
              <a:spcAft>
                <a:spcPts val="600"/>
              </a:spcAft>
            </a:pPr>
            <a:r>
              <a:rPr b="1" sz="1600"/>
              <a:t>Serialized Artifacts: </a:t>
            </a:r>
            <a:r>
              <a:rPr b="0" sz="1600"/>
              <a:t>preprocessor.joblib, random_forest_model.joblib, autoencoder_model.pt, evaluation_metrics.json.</a:t>
            </a:r>
          </a:p>
        </p:txBody>
      </p:sp>
    </p:spTree>
    <p:extLst>
      <p:ext uri="{BB962C8B-B14F-4D97-AF65-F5344CB8AC3E}">
        <p14:creationId xmlns:p14="http://schemas.microsoft.com/office/powerpoint/2010/main" val="32976922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0A2949-2C30-6E16-0DC0-B711AC0CAB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590" y="365760"/>
            <a:ext cx="10515600" cy="914400"/>
          </a:xfrm>
        </p:spPr>
        <p:txBody>
          <a:bodyPr wrap="square" anchor="ctr">
            <a:noAutofit/>
          </a:bodyPr>
          <a:lstStyle/>
          <a:p>
            <a:pPr algn="l"/>
            <a:r>
              <a:rPr sz="3600" b="0">
                <a:latin typeface="+mn-lt"/>
              </a:rPr>
              <a:t>Environment Setup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4C3FB7-FC3D-B3C9-9E09-E01E8E364CB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7590" y="6355994"/>
            <a:ext cx="2743200" cy="364845"/>
          </a:xfrm>
        </p:spPr>
        <p:txBody>
          <a:bodyPr/>
          <a:lstStyle/>
          <a:p>
            <a:fld id="{BF9B7691-07BF-493C-83B8-00DDE0D645D7}" type="datetime1">
              <a:rPr lang="en-IN" smtClean="0"/>
              <a:t>25-10-2026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C56898-FAF2-0513-75F5-C8B98EC383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09990" y="6355994"/>
            <a:ext cx="2743200" cy="364845"/>
          </a:xfrm>
        </p:spPr>
        <p:txBody>
          <a:bodyPr/>
          <a:lstStyle/>
          <a:p>
            <a:fld id="{C2822FB2-3071-4352-B8E4-3C2B5D4CC972}" type="slidenum">
              <a:rPr lang="en-IN" smtClean="0"/>
              <a:t>13</a:t>
            </a:fld>
            <a:endParaRPr lang="en-IN"/>
          </a:p>
        </p:txBody>
      </p:sp>
      <p:sp>
        <p:nvSpPr>
          <p:cNvPr id="6" name="Language &amp; Platform"/>
          <p:cNvSpPr txBox="1"/>
          <p:nvPr/>
        </p:nvSpPr>
        <p:spPr>
          <a:xfrm>
            <a:off x="837589" y="1508759"/>
            <a:ext cx="10515599" cy="4531313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Autofit/>
          </a:bodyPr>
          <a:lstStyle/>
          <a:p>
            <a:pPr lvl="0">
              <a:spcAft>
                <a:spcPts val="1200"/>
              </a:spcAft>
            </a:pPr>
            <a:r>
              <a:rPr b="1" sz="1700"/>
              <a:t>Language &amp; Platform: </a:t>
            </a:r>
            <a:r>
              <a:rPr b="0" sz="1700"/>
              <a:t>Python 3.11 64-bit on Windows 11 desktop, CPU-optimized execution ensuring seamless reproducibility on standard student laptops.</a:t>
            </a:r>
          </a:p>
          <a:p>
            <a:pPr>
              <a:spcAft>
                <a:spcPts val="1200"/>
              </a:spcAft>
            </a:pPr>
            <a:r>
              <a:rPr b="1" sz="1700"/>
              <a:t>Libraries &amp; Frameworks: </a:t>
            </a:r>
            <a:r>
              <a:rPr b="0" sz="1700"/>
              <a:t>Scikit-Learn, PyTorch, NumPy, Pandas, SciPy, Joblib, Flask 3.0, Bootstrap 5.3, Chart.js.</a:t>
            </a:r>
          </a:p>
          <a:p>
            <a:pPr>
              <a:spcAft>
                <a:spcPts val="1200"/>
              </a:spcAft>
            </a:pPr>
            <a:r>
              <a:rPr b="1" sz="1700"/>
              <a:t>Models &amp; Algorithms: </a:t>
            </a:r>
            <a:r>
              <a:rPr b="0" sz="1700"/>
              <a:t>Supervised Random Forest (Gini criterion, balanced class weighting), Deep Neural Autoencoder (MSELoss, Adam optimizer, lr=0.001, batch_size=128, 20 epochs), and 3-Tier Threat Consensus Arbiter.</a:t>
            </a:r>
          </a:p>
          <a:p>
            <a:pPr>
              <a:spcAft>
                <a:spcPts val="1200"/>
              </a:spcAft>
            </a:pPr>
            <a:r>
              <a:rPr b="1" sz="1700"/>
              <a:t>Operational Performance: </a:t>
            </a:r>
            <a:r>
              <a:rPr b="0" sz="1700"/>
              <a:t>Model training executes in under 15 seconds; vectorized web prediction scores all 82,332 test records in 1.84 seconds (&lt; 25 us per flow).</a:t>
            </a:r>
          </a:p>
        </p:txBody>
      </p:sp>
    </p:spTree>
    <p:extLst>
      <p:ext uri="{BB962C8B-B14F-4D97-AF65-F5344CB8AC3E}">
        <p14:creationId xmlns:p14="http://schemas.microsoft.com/office/powerpoint/2010/main" val="3038152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22607-7857-8A56-5EA7-71E434B955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590" y="40445"/>
            <a:ext cx="10515600" cy="914400"/>
          </a:xfrm>
        </p:spPr>
        <p:txBody>
          <a:bodyPr wrap="square" anchor="ctr">
            <a:noAutofit/>
          </a:bodyPr>
          <a:lstStyle/>
          <a:p>
            <a:pPr algn="l"/>
            <a:r>
              <a:rPr sz="3600" b="0" dirty="0">
                <a:latin typeface="+mn-lt"/>
              </a:rPr>
              <a:t>Evaluation Metrics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E80C1E-0693-D702-64D5-EA1CFF3001C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7590" y="6355994"/>
            <a:ext cx="2743200" cy="364845"/>
          </a:xfrm>
        </p:spPr>
        <p:txBody>
          <a:bodyPr/>
          <a:lstStyle/>
          <a:p>
            <a:fld id="{BF9B7691-07BF-493C-83B8-00DDE0D645D7}" type="datetime1">
              <a:rPr lang="en-IN" smtClean="0"/>
              <a:t>25-10-2026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1A55F5-7554-61AD-041D-0ADBB3488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09990" y="6355994"/>
            <a:ext cx="2743200" cy="364845"/>
          </a:xfrm>
        </p:spPr>
        <p:txBody>
          <a:bodyPr/>
          <a:lstStyle/>
          <a:p>
            <a:fld id="{C2822FB2-3071-4352-B8E4-3C2B5D4CC972}" type="slidenum">
              <a:rPr lang="en-IN" smtClean="0"/>
              <a:t>14</a:t>
            </a:fld>
            <a:endParaRPr lang="en-IN"/>
          </a:p>
        </p:txBody>
      </p:sp>
      <p:sp>
        <p:nvSpPr>
          <p:cNvPr id="28" name="Metrics"/>
          <p:cNvSpPr txBox="1"/>
          <p:nvPr/>
        </p:nvSpPr>
        <p:spPr>
          <a:xfrm>
            <a:off x="700430" y="4289364"/>
            <a:ext cx="10515600" cy="196596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Autofit/>
          </a:bodyPr>
          <a:lstStyle/>
          <a:p>
            <a:pPr>
              <a:spcAft>
                <a:spcPts val="400"/>
              </a:spcAft>
            </a:pPr>
            <a:r>
              <a:rPr b="1" sz="1700"/>
              <a:t>Evaluation Dimensions</a:t>
            </a:r>
            <a:endParaRPr lang="en-US" sz="2200" dirty="0">
              <a:ea typeface="Calibri"/>
              <a:cs typeface="Calibri"/>
            </a:endParaRPr>
          </a:p>
          <a:p>
            <a:pPr>
              <a:spcAft>
                <a:spcPts val="400"/>
              </a:spcAft>
            </a:pPr>
            <a:r>
              <a:rPr b="1" sz="1450"/>
              <a:t>Precision &amp; Recall: </a:t>
            </a:r>
            <a:r>
              <a:rPr b="0" sz="1450"/>
              <a:t>Quantifies attack detection accuracy and completeness of threat coverage.</a:t>
            </a:r>
          </a:p>
          <a:p>
            <a:pPr>
              <a:spcAft>
                <a:spcPts val="400"/>
              </a:spcAft>
            </a:pPr>
            <a:r>
              <a:rPr b="1" sz="1450"/>
              <a:t>F1-Score: </a:t>
            </a:r>
            <a:r>
              <a:rPr b="0" sz="1450"/>
              <a:t>Harmonic mean providing a balanced evaluation metric under severe class imbalance.</a:t>
            </a:r>
          </a:p>
          <a:p>
            <a:pPr>
              <a:spcAft>
                <a:spcPts val="400"/>
              </a:spcAft>
            </a:pPr>
            <a:r>
              <a:rPr b="1" sz="1450"/>
              <a:t>Specificity &amp; False Positive Rate: </a:t>
            </a:r>
            <a:r>
              <a:rPr b="0" sz="1450"/>
              <a:t>Measures benign flow preservation and analyst alert fatigue.</a:t>
            </a:r>
          </a:p>
          <a:p>
            <a:pPr>
              <a:spcAft>
                <a:spcPts val="400"/>
              </a:spcAft>
            </a:pPr>
            <a:r>
              <a:rPr b="1" sz="1450"/>
              <a:t>Reconstruction MSE Cutoff: </a:t>
            </a:r>
            <a:r>
              <a:rPr b="0" sz="1450"/>
              <a:t>Calibrated at 95th percentile (0.0865) for zero-day out-of-distribution detection.</a:t>
            </a:r>
          </a:p>
        </p:txBody>
      </p:sp>
      <p:sp>
        <p:nvSpPr>
          <p:cNvPr id="30" name="Key Performance Indicators"/>
          <p:cNvSpPr txBox="1"/>
          <p:nvPr/>
        </p:nvSpPr>
        <p:spPr>
          <a:xfrm>
            <a:off x="837590" y="1023425"/>
            <a:ext cx="1051560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0"/>
              </a:spcAft>
            </a:pPr>
            <a:r>
              <a:rPr b="1" sz="2200"/>
              <a:t>Key Performance Indicators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1638912" y="1554480"/>
          <a:ext cx="8419489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0000"/>
                <a:gridCol w="3019489"/>
              </a:tblGrid>
              <a:tr h="420624">
                <a:tc>
                  <a:txBody>
                    <a:bodyPr/>
                    <a:lstStyle/>
                    <a:p>
                      <a:pPr>
                        <a:defRPr sz="1100" b="1">
                          <a:latin typeface="Calibri"/>
                        </a:defRPr>
                      </a:pPr>
                      <a:r>
                        <a:t>Model Metric (Holdout Benchmark)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latin typeface="Calibri"/>
                        </a:defRPr>
                      </a:pPr>
                      <a:r>
                        <a:t>Empirical Result</a:t>
                      </a:r>
                    </a:p>
                  </a:txBody>
                  <a:tcPr anchor="ctr"/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Random Forest Attack Recall (Detection Rate)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97.75% (2,691 / 2,753 attacks)</a:t>
                      </a:r>
                    </a:p>
                  </a:txBody>
                  <a:tcPr anchor="ctr"/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Random Forest F1-Score / Precision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0.9150 / 86.00% (ROC-AUC: 0.9816)</a:t>
                      </a:r>
                    </a:p>
                  </a:txBody>
                  <a:tcPr anchor="ctr"/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Autoencoder Normal Specificity / FPR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94.08% / 5.92% (Low Alert Fatigue)</a:t>
                      </a:r>
                    </a:p>
                  </a:txBody>
                  <a:tcPr anchor="ctr"/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Dual-Engine Vectorized Batch Latency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1.84 s for 82,332 records (&lt; 25 us/flow)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679736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2119B-DEE5-5C0E-4C9D-AC105C1EA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590" y="365760"/>
            <a:ext cx="10515600" cy="914400"/>
          </a:xfrm>
        </p:spPr>
        <p:txBody>
          <a:bodyPr wrap="square" anchor="ctr">
            <a:noAutofit/>
          </a:bodyPr>
          <a:lstStyle/>
          <a:p>
            <a:pPr algn="l"/>
            <a:r>
              <a:rPr sz="3600" b="0">
                <a:latin typeface="+mn-lt"/>
              </a:rPr>
              <a:t>Result Analysis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2A3041-4C22-F024-C095-618A8E0AEA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7590" y="6355994"/>
            <a:ext cx="2743200" cy="364845"/>
          </a:xfrm>
        </p:spPr>
        <p:txBody>
          <a:bodyPr/>
          <a:lstStyle/>
          <a:p>
            <a:fld id="{2FA994E4-0ECC-4B60-A4DE-02FBF1AC957B}" type="datetime1">
              <a:rPr lang="en-IN" smtClean="0"/>
              <a:t>25-10-2026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099DBB-D07C-4AE2-EDC2-469D28AF9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09990" y="6355994"/>
            <a:ext cx="2743200" cy="364845"/>
          </a:xfrm>
        </p:spPr>
        <p:txBody>
          <a:bodyPr/>
          <a:lstStyle/>
          <a:p>
            <a:fld id="{C2822FB2-3071-4352-B8E4-3C2B5D4CC972}" type="slidenum">
              <a:rPr lang="en-IN" smtClean="0"/>
              <a:t>15</a:t>
            </a:fld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6F48275-198E-C8C4-3FB4-858A6E442F93}"/>
              </a:ext>
            </a:extLst>
          </p:cNvPr>
          <p:cNvSpPr txBox="1"/>
          <p:nvPr/>
        </p:nvSpPr>
        <p:spPr>
          <a:xfrm>
            <a:off x="837590" y="1508760"/>
            <a:ext cx="3657600" cy="45720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>
              <a:spcAft>
                <a:spcPts val="0"/>
              </a:spcAft>
            </a:pPr>
            <a:r>
              <a:rPr b="1" sz="2000"/>
              <a:t>Key Findings &amp; Benefits</a:t>
            </a:r>
            <a:endParaRPr lang="en-US" sz="320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28" name="Benefits"/>
          <p:cNvSpPr txBox="1"/>
          <p:nvPr/>
        </p:nvSpPr>
        <p:spPr>
          <a:xfrm>
            <a:off x="837590" y="2057400"/>
            <a:ext cx="10515600" cy="397764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Autofit/>
          </a:bodyPr>
          <a:lstStyle/>
          <a:p>
            <a:pPr marL="274320" indent="-274320">
              <a:spcAft>
                <a:spcPts val="800"/>
              </a:spcAft>
              <a:buFont typeface="Arial"/>
              <a:buChar char="•"/>
            </a:pPr>
            <a:r>
              <a:rPr b="1" sz="1600"/>
              <a:t>Exceptional Known Attack Detection: </a:t>
            </a:r>
            <a:r>
              <a:rPr b="0" sz="1600"/>
              <a:t>Random Forest delivers 97.75% recall and 0.9150 F1-score on holdout test attacks, successfully flagging 2,691 out of 2,753 malicious flows.</a:t>
            </a:r>
          </a:p>
          <a:p>
            <a:pPr>
              <a:spcAft>
                <a:spcPts val="800"/>
              </a:spcAft>
            </a:pPr>
            <a:r>
              <a:rPr b="1" sz="1600"/>
              <a:t>Complementary Zero-Day Filter: </a:t>
            </a:r>
            <a:r>
              <a:rPr b="0" sz="1600"/>
              <a:t>Deep Autoencoder achieves 94.08% specificity with only 5.92% FPR, detecting novel out-of-distribution attacks without prior signature knowledge.</a:t>
            </a:r>
          </a:p>
          <a:p>
            <a:pPr>
              <a:spcAft>
                <a:spcPts val="800"/>
              </a:spcAft>
            </a:pPr>
            <a:r>
              <a:rPr b="1" sz="1600"/>
              <a:t>Resolution of Accuracy Paradox: </a:t>
            </a:r>
            <a:r>
              <a:rPr b="0" sz="1600"/>
              <a:t>Proves that raw 90%+ accuracy is deceptive in security operations; balances Precision, Recall, and False Alarm rates.</a:t>
            </a:r>
          </a:p>
          <a:p>
            <a:pPr>
              <a:spcAft>
                <a:spcPts val="800"/>
              </a:spcAft>
            </a:pPr>
            <a:r>
              <a:rPr b="1" sz="1600"/>
              <a:t>Threat Consensus Hierarchy: </a:t>
            </a:r>
            <a:r>
              <a:rPr b="0" sz="1600"/>
              <a:t>Combines outputs into Normal (both clear), Suspicious (single flag), and Critical Intrusion (both triggered) to eliminate single-point blind spots.</a:t>
            </a:r>
          </a:p>
          <a:p>
            <a:pPr>
              <a:spcAft>
                <a:spcPts val="800"/>
              </a:spcAft>
            </a:pPr>
            <a:r>
              <a:rPr b="1" sz="1600"/>
              <a:t>Production-Ready Flask SOC: </a:t>
            </a:r>
            <a:r>
              <a:rPr b="0" sz="1600"/>
              <a:t>Offers sub-2-second batch CSV scoring for 82,000+ flows, interactive threshold tuning, and realistic dataset stream replay.</a:t>
            </a:r>
          </a:p>
        </p:txBody>
      </p:sp>
    </p:spTree>
    <p:extLst>
      <p:ext uri="{BB962C8B-B14F-4D97-AF65-F5344CB8AC3E}">
        <p14:creationId xmlns:p14="http://schemas.microsoft.com/office/powerpoint/2010/main" val="24391947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474D0-33BA-3980-2926-9324274E0B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590" y="365760"/>
            <a:ext cx="10515600" cy="914400"/>
          </a:xfrm>
        </p:spPr>
        <p:txBody>
          <a:bodyPr wrap="square" anchor="ctr">
            <a:noAutofit/>
          </a:bodyPr>
          <a:lstStyle/>
          <a:p>
            <a:pPr algn="l"/>
            <a:r>
              <a:rPr lang="en-IN" sz="3600" b="0" dirty="0">
                <a:latin typeface="+mn-lt"/>
                <a:cs typeface="Segoe UI" panose="020B0502040204020203" pitchFamily="34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2666D2-C43C-3651-FC89-3B9CC87F42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7590" y="1508760"/>
            <a:ext cx="10515600" cy="4663440"/>
          </a:xfrm>
        </p:spPr>
        <p:txBody>
          <a:bodyPr wrap="square">
            <a:noAutofit/>
          </a:bodyPr>
          <a:lstStyle/>
          <a:p>
            <a:pPr marL="0" indent="0">
              <a:spcAft>
                <a:spcPts val="1000"/>
              </a:spcAft>
              <a:buNone/>
            </a:pPr>
            <a:r>
              <a:rPr sz="1700"/>
              <a:t>Successfully designed and evaluated an end-to-end data mining and machine learning framework for network intrusion and anomaly detection on the UNSW-NB15 benchmark.</a:t>
            </a:r>
          </a:p>
          <a:p>
            <a:pPr>
              <a:spcAft>
                <a:spcPts val="1000"/>
              </a:spcAft>
            </a:pPr>
            <a:r>
              <a:rPr sz="1700"/>
              <a:t>Proved that pairing supervised tree ensembles (Random Forest) with unsupervised bottleneck neural networks (Deep Autoencoder) creates a resilient defense-in-depth architecture.</a:t>
            </a:r>
          </a:p>
          <a:p>
            <a:pPr>
              <a:spcAft>
                <a:spcPts val="1000"/>
              </a:spcAft>
            </a:pPr>
            <a:r>
              <a:rPr sz="1700"/>
              <a:t>Enforced zero data leakage through strict fit-on-train preprocessor isolation, ensuring realistic and uncompromised evaluation metrics.</a:t>
            </a:r>
          </a:p>
          <a:p>
            <a:pPr>
              <a:spcAft>
                <a:spcPts val="1000"/>
              </a:spcAft>
            </a:pPr>
            <a:r>
              <a:rPr sz="1700"/>
              <a:t>Operationalized research models into an interactive, student-friendly Flask SOC dashboard with batch CSV scoring, stream replay simulation, and multi-tier threat consensus alerting.</a:t>
            </a:r>
          </a:p>
          <a:p>
            <a:pPr>
              <a:spcAft>
                <a:spcPts val="1000"/>
              </a:spcAft>
            </a:pPr>
            <a:r>
              <a:rPr sz="1700"/>
              <a:t>Resolved core academic challenges around class imbalance, alert fatigue, and real-time execution constraints on standard student hardware.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5E0E2D-CE6D-9030-48FB-7B54B56DEB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7590" y="6355994"/>
            <a:ext cx="2743200" cy="364845"/>
          </a:xfrm>
        </p:spPr>
        <p:txBody>
          <a:bodyPr/>
          <a:lstStyle/>
          <a:p>
            <a:fld id="{D33820E4-330B-4F41-A257-F2D0F7DC9105}" type="datetime1">
              <a:rPr lang="en-IN" smtClean="0"/>
              <a:t>25-10-2026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2BF2D6-AF3E-B51F-C3A2-C773A3A41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09990" y="6355994"/>
            <a:ext cx="2743200" cy="364845"/>
          </a:xfrm>
        </p:spPr>
        <p:txBody>
          <a:bodyPr/>
          <a:lstStyle/>
          <a:p>
            <a:fld id="{C2822FB2-3071-4352-B8E4-3C2B5D4CC972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86796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7FB46-B655-8F69-7413-DE3083CD39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590" y="365760"/>
            <a:ext cx="10515600" cy="914400"/>
          </a:xfrm>
        </p:spPr>
        <p:txBody>
          <a:bodyPr wrap="square" anchor="ctr">
            <a:noAutofit/>
          </a:bodyPr>
          <a:lstStyle/>
          <a:p>
            <a:pPr algn="l"/>
            <a:r>
              <a:rPr lang="en-IN" sz="3600" b="0" dirty="0">
                <a:latin typeface="+mn-lt"/>
                <a:cs typeface="Segoe UI" panose="020B0502040204020203" pitchFamily="34" charset="0"/>
              </a:rPr>
              <a:t>Future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BE1F2F-30E0-DD4D-5F85-3822259FEA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7590" y="1508760"/>
            <a:ext cx="10515600" cy="4663440"/>
          </a:xfrm>
        </p:spPr>
        <p:txBody>
          <a:bodyPr wrap="square">
            <a:noAutofit/>
          </a:bodyPr>
          <a:lstStyle/>
          <a:p>
            <a:pPr>
              <a:spcAft>
                <a:spcPts val="1000"/>
              </a:spcAft>
            </a:pPr>
            <a:r>
              <a:rPr b="1" sz="1700"/>
              <a:t>Live Raw Packet Sniffing Engine: </a:t>
            </a:r>
            <a:r>
              <a:rPr b="0" sz="1700"/>
              <a:t>Integrate Scapy or DPDK with raw network socket listeners to extract UNSW-NB15 flow features directly from live Ethernet/Wi-Fi NIC interfaces in real time.</a:t>
            </a:r>
          </a:p>
          <a:p>
            <a:pPr>
              <a:spcAft>
                <a:spcPts val="1000"/>
              </a:spcAft>
            </a:pPr>
            <a:r>
              <a:rPr b="1" sz="1700"/>
              <a:t>Granular Multi-Class Intrusion Classification: </a:t>
            </a:r>
            <a:r>
              <a:rPr b="0" sz="1700"/>
              <a:t>Expand the supervised engine from binary detection to 9-class attack categorization (Generic, Exploits, Fuzzers, DoS, Reconnaissance, Analysis, Backdoor, Shellcode, Worms).</a:t>
            </a:r>
          </a:p>
          <a:p>
            <a:pPr>
              <a:spcAft>
                <a:spcPts val="1000"/>
              </a:spcAft>
            </a:pPr>
            <a:r>
              <a:rPr b="1" sz="1700"/>
              <a:t>Dynamic Anomaly Threshold Adaptation: </a:t>
            </a:r>
            <a:r>
              <a:rPr b="0" sz="1700"/>
              <a:t>Implement adaptive sliding-window Kalman filtering or reinforcement learning to continuously tune the Autoencoder reconstruction cutoff against diurnal traffic shifts.</a:t>
            </a:r>
          </a:p>
          <a:p>
            <a:pPr>
              <a:spcAft>
                <a:spcPts val="1000"/>
              </a:spcAft>
            </a:pPr>
            <a:r>
              <a:rPr b="1" sz="1700"/>
              <a:t>Deep Sequential &amp; Temporal Modeling: </a:t>
            </a:r>
            <a:r>
              <a:rPr b="0" sz="1700"/>
              <a:t>Incorporate Temporal Convolutional Networks (TCN) or LSTM Autoencoders to capture sequential packet dependencies across consecutive flow windows.</a:t>
            </a:r>
          </a:p>
          <a:p>
            <a:pPr>
              <a:spcAft>
                <a:spcPts val="1000"/>
              </a:spcAft>
            </a:pPr>
            <a:r>
              <a:rPr b="1" sz="1700"/>
              <a:t>Enterprise SIEM Platform Integration: </a:t>
            </a:r>
            <a:r>
              <a:rPr b="0" sz="1700"/>
              <a:t>Forward alert telemetry via Syslog (CEF / JSON format) and webhooks into enterprise SIEM tools such as Splunk, Elastic Security, and Microsoft Sentinel.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4513B6-AC20-F806-6182-039814F529C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7590" y="6355994"/>
            <a:ext cx="2743200" cy="364845"/>
          </a:xfrm>
        </p:spPr>
        <p:txBody>
          <a:bodyPr/>
          <a:lstStyle/>
          <a:p>
            <a:fld id="{FFFC5C0C-ED5F-4709-B635-1600829730A1}" type="datetime1">
              <a:rPr lang="en-IN" smtClean="0"/>
              <a:t>25-10-2026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AA4147-C223-D276-41C8-5625130B7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09990" y="6355994"/>
            <a:ext cx="2743200" cy="364845"/>
          </a:xfrm>
        </p:spPr>
        <p:txBody>
          <a:bodyPr/>
          <a:lstStyle/>
          <a:p>
            <a:fld id="{C2822FB2-3071-4352-B8E4-3C2B5D4CC972}" type="slidenum">
              <a:rPr lang="en-IN" smtClean="0"/>
              <a:t>19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342804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727C00-0497-D8DE-1CEE-D7D4CF63BB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590" y="365760"/>
            <a:ext cx="10515600" cy="914400"/>
          </a:xfrm>
        </p:spPr>
        <p:txBody>
          <a:bodyPr wrap="square" anchor="ctr">
            <a:noAutofit/>
          </a:bodyPr>
          <a:lstStyle/>
          <a:p>
            <a:pPr algn="l"/>
            <a:r>
              <a:rPr lang="en-IN" sz="3600" b="0" dirty="0">
                <a:latin typeface="+mn-lt"/>
                <a:cs typeface="Segoe UI" panose="020B0502040204020203" pitchFamily="34" charset="0"/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CCE921-BD2A-E1C9-2682-F9CE27D111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7590" y="1508760"/>
            <a:ext cx="10515600" cy="4663440"/>
          </a:xfrm>
        </p:spPr>
        <p:txBody>
          <a:bodyPr wrap="square">
            <a:noAutofit/>
          </a:bodyPr>
          <a:lstStyle/>
          <a:p>
            <a:pPr marL="514350" lvl="0" indent="-514350" algn="l">
              <a:spcAft>
                <a:spcPts val="800"/>
              </a:spcAft>
              <a:buFont typeface="+mj-lt"/>
              <a:buAutoNum type="arabicPeriod"/>
            </a:pPr>
            <a:r>
              <a:rPr sz="1400"/>
              <a:t>1. N. Moustafa and J. Slay, 'UNSW-NB15: A comprehensive data set for network intrusion detection systems (UNSW-NB15 network data set),' in Proc. Military Communications and Information Systems Conference (MilCIS), 2015, pp. 1-6.</a:t>
            </a:r>
          </a:p>
          <a:p>
            <a:pPr>
              <a:spcAft>
                <a:spcPts val="800"/>
              </a:spcAft>
            </a:pPr>
            <a:r>
              <a:rPr sz="1400"/>
              <a:t>2. L. Breiman, 'Random Forests,' Machine Learning, vol. 45, no. 1, pp. 5-32, 2001.</a:t>
            </a:r>
          </a:p>
          <a:p>
            <a:pPr>
              <a:spcAft>
                <a:spcPts val="800"/>
              </a:spcAft>
            </a:pPr>
            <a:r>
              <a:rPr sz="1400"/>
              <a:t>3. V. Chandola, A. Banerjee, and V. Kumar, 'Anomaly detection: A survey,' ACM Computing Surveys (CSUR), vol. 41, no. 3, pp. 1-58, 2009.</a:t>
            </a:r>
          </a:p>
          <a:p>
            <a:pPr>
              <a:spcAft>
                <a:spcPts val="800"/>
              </a:spcAft>
            </a:pPr>
            <a:r>
              <a:rPr sz="1400"/>
              <a:t>4. Y. Mirsky, T. Doitshman, Y. Elovici, and A. Shabtai, 'Kitsune: An ensemble of autoencoders for online network intrusion detection,' in Proc. Network and Distributed System Security Symposium (NDSS), 2018.</a:t>
            </a:r>
          </a:p>
          <a:p>
            <a:pPr>
              <a:spcAft>
                <a:spcPts val="800"/>
              </a:spcAft>
            </a:pPr>
            <a:r>
              <a:rPr sz="1400"/>
              <a:t>5. M. Ring, S. Wunderlich, D. Scheuring, D. Landes, and A. Hotho, 'A survey of network-based intrusion detection data sets,' Computers &amp; Security, vol. 86, pp. 147-167, 2019.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B55D0B-1A0B-E4FC-BC98-2528426FDBF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7590" y="6355994"/>
            <a:ext cx="2743200" cy="364845"/>
          </a:xfrm>
        </p:spPr>
        <p:txBody>
          <a:bodyPr/>
          <a:lstStyle/>
          <a:p>
            <a:fld id="{F558E231-67E6-48CB-8EE0-ADDA0D1ECD20}" type="datetime1">
              <a:rPr lang="en-IN" smtClean="0"/>
              <a:t>25-10-2026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823915-7CCB-186D-082D-1477796D59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09990" y="6355994"/>
            <a:ext cx="2743200" cy="364845"/>
          </a:xfrm>
        </p:spPr>
        <p:txBody>
          <a:bodyPr/>
          <a:lstStyle/>
          <a:p>
            <a:fld id="{C2822FB2-3071-4352-B8E4-3C2B5D4CC972}" type="slidenum">
              <a:rPr lang="en-IN" smtClean="0"/>
              <a:t>20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6604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727C00-0497-D8DE-1CEE-D7D4CF63BB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590" y="365760"/>
            <a:ext cx="10515600" cy="914400"/>
          </a:xfrm>
        </p:spPr>
        <p:txBody>
          <a:bodyPr wrap="square" anchor="ctr">
            <a:noAutofit/>
          </a:bodyPr>
          <a:lstStyle/>
          <a:p>
            <a:pPr algn="l"/>
            <a:r>
              <a:rPr lang="en-IN" sz="3600" b="0" dirty="0">
                <a:latin typeface="+mn-lt"/>
                <a:cs typeface="Segoe UI" panose="020B0502040204020203" pitchFamily="34" charset="0"/>
              </a:rPr>
              <a:t>References (Contd.)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CCE921-BD2A-E1C9-2682-F9CE27D111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7590" y="1508760"/>
            <a:ext cx="10515600" cy="4663440"/>
          </a:xfrm>
        </p:spPr>
        <p:txBody>
          <a:bodyPr wrap="square">
            <a:noAutofit/>
          </a:bodyPr>
          <a:lstStyle/>
          <a:p>
            <a:pPr marL="514350" lvl="0" indent="-514350" algn="l">
              <a:spcAft>
                <a:spcPts val="800"/>
              </a:spcAft>
              <a:buFont typeface="+mj-lt"/>
              <a:buAutoNum type="arabicPeriod" startAt="6"/>
            </a:pPr>
            <a:r>
              <a:rPr sz="1400"/>
              <a:t>6. N. Moustafa and J. Slay, 'The evaluation of Network Anomaly Detection Systems: Statistical analysis of the UNSW-NB15 data set and the comparison with the KDD99 data set,' Information Security Journal: A Global Perspective, vol. 25, no. 1-3, pp. 18-31, 2016.</a:t>
            </a:r>
          </a:p>
          <a:p>
            <a:pPr>
              <a:spcAft>
                <a:spcPts val="800"/>
              </a:spcAft>
            </a:pPr>
            <a:r>
              <a:rPr sz="1400"/>
              <a:t>7. F. E. Febro and N. Moustafa, 'Co-design of edge-AI and cloud computing for cyber threat detection in smart grids,' IEEE Transactions on Industrial Informatics, vol. 18, no. 11, pp. 8056-8066, 2022.</a:t>
            </a:r>
          </a:p>
          <a:p>
            <a:pPr>
              <a:spcAft>
                <a:spcPts val="800"/>
              </a:spcAft>
            </a:pPr>
            <a:r>
              <a:rPr sz="1400"/>
              <a:t>8. R. Sommer and V. Paxson, 'Outside the closed world: On using machine learning for network intrusion detection,' in Proc. IEEE Symposium on Security and Privacy (SP), 2010, pp. 305-316.</a:t>
            </a:r>
          </a:p>
          <a:p>
            <a:pPr>
              <a:spcAft>
                <a:spcPts val="800"/>
              </a:spcAft>
            </a:pPr>
            <a:r>
              <a:rPr sz="1400"/>
              <a:t>9. A. L. Buczak and E. Guven, 'A survey of data mining and machine learning methods for cyber security intrusion detection,' IEEE Communications Surveys &amp; Tutorials, vol. 18, no. 2, pp. 1153-1176, 2016.</a:t>
            </a:r>
          </a:p>
          <a:p>
            <a:pPr>
              <a:spcAft>
                <a:spcPts val="800"/>
              </a:spcAft>
            </a:pPr>
            <a:r>
              <a:rPr sz="1400"/>
              <a:t>10. U. M. Fayyad, G. Piatetsky-Shapiro, and P. Smyth, 'The KDD process for extracting useful knowledge from volumes of data,' Communications of the ACM, vol. 39, no. 11, pp. 27-34, 1996.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B55D0B-1A0B-E4FC-BC98-2528426FDBF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7590" y="6355994"/>
            <a:ext cx="2743200" cy="364845"/>
          </a:xfrm>
        </p:spPr>
        <p:txBody>
          <a:bodyPr/>
          <a:lstStyle/>
          <a:p>
            <a:fld id="{F558E231-67E6-48CB-8EE0-ADDA0D1ECD20}" type="datetime1">
              <a:rPr lang="en-IN" smtClean="0"/>
              <a:t>25-10-2026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823915-7CCB-186D-082D-1477796D59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09990" y="6355994"/>
            <a:ext cx="2743200" cy="364845"/>
          </a:xfrm>
        </p:spPr>
        <p:txBody>
          <a:bodyPr/>
          <a:lstStyle/>
          <a:p>
            <a:fld id="{C2822FB2-3071-4352-B8E4-3C2B5D4CC972}" type="slidenum">
              <a:rPr lang="en-IN" smtClean="0"/>
              <a:t>20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6604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02BE7-F083-4065-A4C4-65B164BF5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590" y="2468880"/>
            <a:ext cx="10515600" cy="1920240"/>
          </a:xfrm>
        </p:spPr>
        <p:txBody>
          <a:bodyPr anchor="ctr">
            <a:noAutofit/>
          </a:bodyPr>
          <a:lstStyle/>
          <a:p>
            <a:pPr algn="ctr">
              <a:spcAft>
                <a:spcPts val="1000"/>
              </a:spcAft>
            </a:pPr>
            <a:r>
              <a:rPr b="1" sz="4400"/>
              <a:t>Thank you!</a:t>
            </a:r>
          </a:p>
          <a:p>
            <a:pPr algn="ctr">
              <a:spcAft>
                <a:spcPts val="1400"/>
              </a:spcAft>
            </a:pPr>
            <a:r>
              <a:rPr b="0" sz="2400"/>
              <a:t>Questions &amp; Discussion</a:t>
            </a:r>
          </a:p>
          <a:p>
            <a:pPr algn="ctr">
              <a:spcAft>
                <a:spcPts val="0"/>
              </a:spcAft>
            </a:pPr>
            <a:r>
              <a:rPr b="0" sz="1600"/>
              <a:t>Bharathram K (Reg. No: E0324006) | Guided by: Prof. P. Deepika
Department of Computer Science &amp; Engineering (AI &amp; DA)
Sri Ramachandra Institute of Higher Education and Research (SRIHER)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57F099C-B918-5338-3562-AF83EF663C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7590" y="6355994"/>
            <a:ext cx="2743200" cy="364845"/>
          </a:xfrm>
        </p:spPr>
        <p:txBody>
          <a:bodyPr/>
          <a:lstStyle/>
          <a:p>
            <a:fld id="{024D09DE-649E-4D42-99E4-A8193990E34E}" type="datetime1">
              <a:rPr lang="en-IN" smtClean="0"/>
              <a:t>25-10-2026</a:t>
            </a:fld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3729FE-C92D-3346-A285-80175C7E2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09990" y="6355994"/>
            <a:ext cx="2743200" cy="364845"/>
          </a:xfrm>
        </p:spPr>
        <p:txBody>
          <a:bodyPr/>
          <a:lstStyle/>
          <a:p>
            <a:fld id="{C2822FB2-3071-4352-B8E4-3C2B5D4CC972}" type="slidenum">
              <a:rPr lang="en-IN" smtClean="0"/>
              <a:t>21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94771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368</TotalTime>
  <Words>1619</Words>
  <Application>Microsoft Office PowerPoint</Application>
  <PresentationFormat>Widescreen</PresentationFormat>
  <Paragraphs>167</Paragraphs>
  <Slides>21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</vt:lpstr>
      <vt:lpstr>Calibri</vt:lpstr>
      <vt:lpstr>Calibri Light</vt:lpstr>
      <vt:lpstr>Segoe UI</vt:lpstr>
      <vt:lpstr>Times New Roman</vt:lpstr>
      <vt:lpstr>Office Theme</vt:lpstr>
      <vt:lpstr>Research Productivity Tools - ADA23SLU07 Final Assessment</vt:lpstr>
      <vt:lpstr>Contents</vt:lpstr>
      <vt:lpstr>Introduction</vt:lpstr>
      <vt:lpstr>Problem Statement</vt:lpstr>
      <vt:lpstr>Literature Survey</vt:lpstr>
      <vt:lpstr>Objective</vt:lpstr>
      <vt:lpstr>Workflow Diagram</vt:lpstr>
      <vt:lpstr>Methodology</vt:lpstr>
      <vt:lpstr>Methodology </vt:lpstr>
      <vt:lpstr>Tools</vt:lpstr>
      <vt:lpstr>Techniques</vt:lpstr>
      <vt:lpstr>Implementation</vt:lpstr>
      <vt:lpstr>Environment Setup</vt:lpstr>
      <vt:lpstr>Evaluation Metrics</vt:lpstr>
      <vt:lpstr>Result Analysis</vt:lpstr>
      <vt:lpstr>Output Screenshots</vt:lpstr>
      <vt:lpstr>Output Screenshots</vt:lpstr>
      <vt:lpstr>Conclusion</vt:lpstr>
      <vt:lpstr>Future Scope</vt:lpstr>
      <vt:lpstr>References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NEXUS: A Hybrid Memory-Augmented Multimodal Multi-Agent Framework for Personalized Desktop AI Assistants</dc:title>
  <dc:creator>Bharathram K; Vishal S</dc:creator>
  <cp:lastModifiedBy>Bharathram K; Vishal S</cp:lastModifiedBy>
  <cp:revision>317</cp:revision>
  <dcterms:created xsi:type="dcterms:W3CDTF">2025-04-25T03:07:44Z</dcterms:created>
  <dcterms:modified xsi:type="dcterms:W3CDTF">2026-10-25T18:00:26Z</dcterms:modified>
</cp:coreProperties>
</file>