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0" r:id="rId5"/>
    <p:sldId id="261" r:id="rId6"/>
    <p:sldId id="263" r:id="rId7"/>
    <p:sldId id="264" r:id="rId8"/>
    <p:sldId id="267" r:id="rId9"/>
    <p:sldId id="280" r:id="rId10"/>
    <p:sldId id="278" r:id="rId11"/>
    <p:sldId id="281" r:id="rId12"/>
    <p:sldId id="268" r:id="rId13"/>
    <p:sldId id="282" r:id="rId14"/>
    <p:sldId id="283" r:id="rId15"/>
    <p:sldId id="269" r:id="rId16"/>
    <p:sldId id="272" r:id="rId19"/>
    <p:sldId id="273" r:id="rId20"/>
    <p:sldId id="275" r:id="rId21"/>
    <p:sldId id="286" r:id="rId29"/>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147E7F-1722-49D8-B7E8-80D22A0F0210}" v="631" dt="2026-10-25T11:09:28.292"/>
    <p1510:client id="{BB906CA3-97F7-469B-8A65-AEBDC8D85B9E}" v="41" dt="2026-10-25T11:21:13.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3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20.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 Id="rId29"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2B8041-3817-4F59-AD8B-DE9D5DA4C385}" type="datetimeFigureOut">
              <a:rPr lang="en-IN" smtClean="0"/>
              <a:t>25-10-2026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8C8158-4B9C-4B61-B24C-EC16A4D4563E}" type="slidenum">
              <a:rPr lang="en-IN" smtClean="0"/>
              <a:t>‹#›</a:t>
            </a:fld>
            <a:endParaRPr lang="en-IN"/>
          </a:p>
        </p:txBody>
      </p:sp>
    </p:spTree>
    <p:extLst>
      <p:ext uri="{BB962C8B-B14F-4D97-AF65-F5344CB8AC3E}">
        <p14:creationId xmlns:p14="http://schemas.microsoft.com/office/powerpoint/2010/main" val="30162437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C8158-4B9C-4B61-B24C-EC16A4D4563E}" type="slidenum">
              <a:rPr lang="en-IN" smtClean="0"/>
              <a:t>6</a:t>
            </a:fld>
            <a:endParaRPr lang="en-IN"/>
          </a:p>
        </p:txBody>
      </p:sp>
    </p:spTree>
    <p:extLst>
      <p:ext uri="{BB962C8B-B14F-4D97-AF65-F5344CB8AC3E}">
        <p14:creationId xmlns:p14="http://schemas.microsoft.com/office/powerpoint/2010/main" val="1863620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C8158-4B9C-4B61-B24C-EC16A4D4563E}" type="slidenum">
              <a:rPr lang="en-IN" smtClean="0"/>
              <a:t>18</a:t>
            </a:fld>
            <a:endParaRPr lang="en-IN"/>
          </a:p>
        </p:txBody>
      </p:sp>
    </p:spTree>
    <p:extLst>
      <p:ext uri="{BB962C8B-B14F-4D97-AF65-F5344CB8AC3E}">
        <p14:creationId xmlns:p14="http://schemas.microsoft.com/office/powerpoint/2010/main" val="4210976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57C7-1ABD-22BC-2735-6B6F41814C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6A62C9B-1500-12A9-0516-993986535D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D82AB7-555F-9E0F-2E53-6A2AA5326ED2}"/>
              </a:ext>
            </a:extLst>
          </p:cNvPr>
          <p:cNvSpPr>
            <a:spLocks noGrp="1"/>
          </p:cNvSpPr>
          <p:nvPr>
            <p:ph type="dt" sz="half" idx="10"/>
          </p:nvPr>
        </p:nvSpPr>
        <p:spPr/>
        <p:txBody>
          <a:bodyPr/>
          <a:lstStyle/>
          <a:p>
            <a:fld id="{718573ED-CA3E-4E36-A5EB-91202A0B9F08}" type="datetime1">
              <a:rPr lang="en-IN" smtClean="0"/>
              <a:t>25-10-2026</a:t>
            </a:fld>
            <a:endParaRPr lang="en-IN"/>
          </a:p>
        </p:txBody>
      </p:sp>
      <p:sp>
        <p:nvSpPr>
          <p:cNvPr id="5" name="Footer Placeholder 4">
            <a:extLst>
              <a:ext uri="{FF2B5EF4-FFF2-40B4-BE49-F238E27FC236}">
                <a16:creationId xmlns:a16="http://schemas.microsoft.com/office/drawing/2014/main" id="{DC180C0D-1385-636C-B873-DAF213ED26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6328B9-B1A6-0C1E-CD88-55130932EC09}"/>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1843350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87D05-D569-F27A-0F09-A5F2502FE1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AC721C-048B-C524-F501-5709013601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8DE483-4865-4966-319A-D931DC389F7C}"/>
              </a:ext>
            </a:extLst>
          </p:cNvPr>
          <p:cNvSpPr>
            <a:spLocks noGrp="1"/>
          </p:cNvSpPr>
          <p:nvPr>
            <p:ph type="dt" sz="half" idx="10"/>
          </p:nvPr>
        </p:nvSpPr>
        <p:spPr/>
        <p:txBody>
          <a:bodyPr/>
          <a:lstStyle/>
          <a:p>
            <a:fld id="{BF9B7691-07BF-493C-83B8-00DDE0D645D7}" type="datetime1">
              <a:rPr lang="en-IN" smtClean="0"/>
              <a:t>25-10-2026</a:t>
            </a:fld>
            <a:endParaRPr lang="en-IN"/>
          </a:p>
        </p:txBody>
      </p:sp>
      <p:sp>
        <p:nvSpPr>
          <p:cNvPr id="5" name="Footer Placeholder 4">
            <a:extLst>
              <a:ext uri="{FF2B5EF4-FFF2-40B4-BE49-F238E27FC236}">
                <a16:creationId xmlns:a16="http://schemas.microsoft.com/office/drawing/2014/main" id="{C1816E9B-A4AB-69FB-6885-ACE05F02C3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625C1F-08CD-8975-5055-D1FC4208A462}"/>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3434826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045AE-0C41-FBC6-6A7B-2B9BC63CA7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505F9B-77D1-D888-5B52-25806A4A62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F092A9-E2AB-6514-3257-D96A26FCF30D}"/>
              </a:ext>
            </a:extLst>
          </p:cNvPr>
          <p:cNvSpPr>
            <a:spLocks noGrp="1"/>
          </p:cNvSpPr>
          <p:nvPr>
            <p:ph type="dt" sz="half" idx="10"/>
          </p:nvPr>
        </p:nvSpPr>
        <p:spPr/>
        <p:txBody>
          <a:bodyPr/>
          <a:lstStyle/>
          <a:p>
            <a:fld id="{C66DCEC4-4337-4AB6-A7CC-C46F7E56B17F}" type="datetime1">
              <a:rPr lang="en-IN" smtClean="0"/>
              <a:t>25-10-2026</a:t>
            </a:fld>
            <a:endParaRPr lang="en-IN"/>
          </a:p>
        </p:txBody>
      </p:sp>
      <p:sp>
        <p:nvSpPr>
          <p:cNvPr id="5" name="Footer Placeholder 4">
            <a:extLst>
              <a:ext uri="{FF2B5EF4-FFF2-40B4-BE49-F238E27FC236}">
                <a16:creationId xmlns:a16="http://schemas.microsoft.com/office/drawing/2014/main" id="{16AC9C82-A990-06FC-F3E0-5A0AB3B754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B39DE0-B88F-8A75-B48E-D72D555778E3}"/>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2530093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23363-1517-C676-71C7-C1140FAA5D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CB8434-9F38-3E7E-2B1A-B855994FCC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D0ECD3-4025-CC8E-42AD-9B25005790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23BEF9-6F52-82E3-1468-47A531173035}"/>
              </a:ext>
            </a:extLst>
          </p:cNvPr>
          <p:cNvSpPr>
            <a:spLocks noGrp="1"/>
          </p:cNvSpPr>
          <p:nvPr>
            <p:ph type="dt" sz="half" idx="10"/>
          </p:nvPr>
        </p:nvSpPr>
        <p:spPr/>
        <p:txBody>
          <a:bodyPr/>
          <a:lstStyle/>
          <a:p>
            <a:fld id="{5430D3E7-5605-4EAF-B595-BDBFD4E5D376}" type="datetime1">
              <a:rPr lang="en-IN" smtClean="0"/>
              <a:t>25-10-2026</a:t>
            </a:fld>
            <a:endParaRPr lang="en-IN"/>
          </a:p>
        </p:txBody>
      </p:sp>
      <p:sp>
        <p:nvSpPr>
          <p:cNvPr id="6" name="Footer Placeholder 5">
            <a:extLst>
              <a:ext uri="{FF2B5EF4-FFF2-40B4-BE49-F238E27FC236}">
                <a16:creationId xmlns:a16="http://schemas.microsoft.com/office/drawing/2014/main" id="{A3A1FCAA-88E2-450D-A804-AFE4D39D27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660C6B-531B-7E3C-F667-5570A30B1348}"/>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1081297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D6BD-38F2-301A-4EAF-F5DB80F9AE3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ECE9EC-2AC9-73A5-5E6B-9028576174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34EBCB-8827-99CF-ED02-47D0873B80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F23CF57-EA58-1569-FF46-389C1962BB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012665-2552-2B0C-C978-B907C19289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9A51692-670A-730A-AEB6-81AB80E9CF05}"/>
              </a:ext>
            </a:extLst>
          </p:cNvPr>
          <p:cNvSpPr>
            <a:spLocks noGrp="1"/>
          </p:cNvSpPr>
          <p:nvPr>
            <p:ph type="dt" sz="half" idx="10"/>
          </p:nvPr>
        </p:nvSpPr>
        <p:spPr/>
        <p:txBody>
          <a:bodyPr/>
          <a:lstStyle/>
          <a:p>
            <a:fld id="{EABBA3C4-1FF1-42A2-99BD-FCA499EF2FCD}" type="datetime1">
              <a:rPr lang="en-IN" smtClean="0"/>
              <a:t>25-10-2026</a:t>
            </a:fld>
            <a:endParaRPr lang="en-IN"/>
          </a:p>
        </p:txBody>
      </p:sp>
      <p:sp>
        <p:nvSpPr>
          <p:cNvPr id="8" name="Footer Placeholder 7">
            <a:extLst>
              <a:ext uri="{FF2B5EF4-FFF2-40B4-BE49-F238E27FC236}">
                <a16:creationId xmlns:a16="http://schemas.microsoft.com/office/drawing/2014/main" id="{46F1E302-095A-1E88-38D5-836C2D3774A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1C2CFE0-85F5-5DE9-8C3D-7F185E9D4E3A}"/>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35667300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19AB3-259B-BEDD-BBCB-FED1BBD696E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FAA013-6B57-868D-7868-E2556DCBEBD4}"/>
              </a:ext>
            </a:extLst>
          </p:cNvPr>
          <p:cNvSpPr>
            <a:spLocks noGrp="1"/>
          </p:cNvSpPr>
          <p:nvPr>
            <p:ph type="dt" sz="half" idx="10"/>
          </p:nvPr>
        </p:nvSpPr>
        <p:spPr/>
        <p:txBody>
          <a:bodyPr/>
          <a:lstStyle/>
          <a:p>
            <a:fld id="{8AF33A21-C397-4D10-94D1-8F49F9C7F339}" type="datetime1">
              <a:rPr lang="en-IN" smtClean="0"/>
              <a:t>25-10-2026</a:t>
            </a:fld>
            <a:endParaRPr lang="en-IN"/>
          </a:p>
        </p:txBody>
      </p:sp>
      <p:sp>
        <p:nvSpPr>
          <p:cNvPr id="4" name="Footer Placeholder 3">
            <a:extLst>
              <a:ext uri="{FF2B5EF4-FFF2-40B4-BE49-F238E27FC236}">
                <a16:creationId xmlns:a16="http://schemas.microsoft.com/office/drawing/2014/main" id="{077665E0-0147-82E6-FD1B-1F2E98E7BE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1188A61-DCF2-81F4-0263-D769ABF7C818}"/>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1657447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C4C144-3602-8C88-9D01-4E8991A97494}"/>
              </a:ext>
            </a:extLst>
          </p:cNvPr>
          <p:cNvSpPr>
            <a:spLocks noGrp="1"/>
          </p:cNvSpPr>
          <p:nvPr>
            <p:ph type="dt" sz="half" idx="10"/>
          </p:nvPr>
        </p:nvSpPr>
        <p:spPr/>
        <p:txBody>
          <a:bodyPr/>
          <a:lstStyle/>
          <a:p>
            <a:fld id="{21D94E28-7A79-45D1-A600-1A0D8A683E63}" type="datetime1">
              <a:rPr lang="en-IN" smtClean="0"/>
              <a:t>25-10-2026</a:t>
            </a:fld>
            <a:endParaRPr lang="en-IN"/>
          </a:p>
        </p:txBody>
      </p:sp>
      <p:sp>
        <p:nvSpPr>
          <p:cNvPr id="3" name="Footer Placeholder 2">
            <a:extLst>
              <a:ext uri="{FF2B5EF4-FFF2-40B4-BE49-F238E27FC236}">
                <a16:creationId xmlns:a16="http://schemas.microsoft.com/office/drawing/2014/main" id="{91D6D17B-17E4-B6FF-C4BC-47FF94DE8F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9EA1A35-823B-EEEF-33C3-3DE227C57474}"/>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2357637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893C3-07EC-88BD-947A-64B8AA8A1A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AF615CE-BCC0-3507-5E91-56098EB0CD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AC6C8BC-EF54-22DB-3AED-11C1D1217B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F585C7-D470-F786-BEA4-B437BFEEBFD1}"/>
              </a:ext>
            </a:extLst>
          </p:cNvPr>
          <p:cNvSpPr>
            <a:spLocks noGrp="1"/>
          </p:cNvSpPr>
          <p:nvPr>
            <p:ph type="dt" sz="half" idx="10"/>
          </p:nvPr>
        </p:nvSpPr>
        <p:spPr/>
        <p:txBody>
          <a:bodyPr/>
          <a:lstStyle/>
          <a:p>
            <a:fld id="{9F89ED72-D60F-4540-8B63-91B0376E508A}" type="datetime1">
              <a:rPr lang="en-IN" smtClean="0"/>
              <a:t>25-10-2026</a:t>
            </a:fld>
            <a:endParaRPr lang="en-IN"/>
          </a:p>
        </p:txBody>
      </p:sp>
      <p:sp>
        <p:nvSpPr>
          <p:cNvPr id="6" name="Footer Placeholder 5">
            <a:extLst>
              <a:ext uri="{FF2B5EF4-FFF2-40B4-BE49-F238E27FC236}">
                <a16:creationId xmlns:a16="http://schemas.microsoft.com/office/drawing/2014/main" id="{A12A92C9-C96F-B523-8221-ADE096999B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0860A9-C358-6E03-3B13-409730FA6EE6}"/>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1102633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1CC4-2281-C73C-81AC-459D068CE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3CE7AA-B124-01D2-8BCC-A380850560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637958-6C7D-0CEC-9CC3-120AF58D6F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84D23D-0F48-7A6D-8641-93BDA9492308}"/>
              </a:ext>
            </a:extLst>
          </p:cNvPr>
          <p:cNvSpPr>
            <a:spLocks noGrp="1"/>
          </p:cNvSpPr>
          <p:nvPr>
            <p:ph type="dt" sz="half" idx="10"/>
          </p:nvPr>
        </p:nvSpPr>
        <p:spPr/>
        <p:txBody>
          <a:bodyPr/>
          <a:lstStyle/>
          <a:p>
            <a:fld id="{60884B56-0180-4ACF-94B3-F6B1451EF11B}" type="datetime1">
              <a:rPr lang="en-IN" smtClean="0"/>
              <a:t>25-10-2026</a:t>
            </a:fld>
            <a:endParaRPr lang="en-IN"/>
          </a:p>
        </p:txBody>
      </p:sp>
      <p:sp>
        <p:nvSpPr>
          <p:cNvPr id="6" name="Footer Placeholder 5">
            <a:extLst>
              <a:ext uri="{FF2B5EF4-FFF2-40B4-BE49-F238E27FC236}">
                <a16:creationId xmlns:a16="http://schemas.microsoft.com/office/drawing/2014/main" id="{CF906A48-2D21-0A49-1D4F-EE736501A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336D1E-F88D-85CB-46D1-8C55382D5670}"/>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672704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6D9CA-93ED-2E5B-4037-D29458876D3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EA586C-6EF8-1F2B-89B3-F95F101E90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4CB0E8-0B29-BE59-5B22-AEC9D61FA231}"/>
              </a:ext>
            </a:extLst>
          </p:cNvPr>
          <p:cNvSpPr>
            <a:spLocks noGrp="1"/>
          </p:cNvSpPr>
          <p:nvPr>
            <p:ph type="dt" sz="half" idx="10"/>
          </p:nvPr>
        </p:nvSpPr>
        <p:spPr/>
        <p:txBody>
          <a:bodyPr/>
          <a:lstStyle/>
          <a:p>
            <a:fld id="{4D79BB26-F55C-4696-8515-1F67E48B026D}" type="datetime1">
              <a:rPr lang="en-IN" smtClean="0"/>
              <a:t>25-10-2026</a:t>
            </a:fld>
            <a:endParaRPr lang="en-IN"/>
          </a:p>
        </p:txBody>
      </p:sp>
      <p:sp>
        <p:nvSpPr>
          <p:cNvPr id="5" name="Footer Placeholder 4">
            <a:extLst>
              <a:ext uri="{FF2B5EF4-FFF2-40B4-BE49-F238E27FC236}">
                <a16:creationId xmlns:a16="http://schemas.microsoft.com/office/drawing/2014/main" id="{9B45E944-BBDF-65E9-380E-D5ECB72886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CB579F-3C51-0BD8-9B5E-6608F73BD66E}"/>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108417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8D9B5-33F3-2B95-E9F8-C8A5B8BE71C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375976-E645-6D1C-B612-8B9767B7C0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1B88B6-14BE-4E1C-5D54-A2ED3B9B088B}"/>
              </a:ext>
            </a:extLst>
          </p:cNvPr>
          <p:cNvSpPr>
            <a:spLocks noGrp="1"/>
          </p:cNvSpPr>
          <p:nvPr>
            <p:ph type="dt" sz="half" idx="10"/>
          </p:nvPr>
        </p:nvSpPr>
        <p:spPr/>
        <p:txBody>
          <a:bodyPr/>
          <a:lstStyle/>
          <a:p>
            <a:fld id="{5AAD705E-8A23-4426-BF83-CAF0DC67B5A0}" type="datetime1">
              <a:rPr lang="en-IN" smtClean="0"/>
              <a:t>25-10-2026</a:t>
            </a:fld>
            <a:endParaRPr lang="en-IN"/>
          </a:p>
        </p:txBody>
      </p:sp>
      <p:sp>
        <p:nvSpPr>
          <p:cNvPr id="5" name="Footer Placeholder 4">
            <a:extLst>
              <a:ext uri="{FF2B5EF4-FFF2-40B4-BE49-F238E27FC236}">
                <a16:creationId xmlns:a16="http://schemas.microsoft.com/office/drawing/2014/main" id="{DE3AC205-B125-D59E-1427-E517B14640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606E40-A46E-A803-3E7D-3BCB9981B1C2}"/>
              </a:ext>
            </a:extLst>
          </p:cNvPr>
          <p:cNvSpPr>
            <a:spLocks noGrp="1"/>
          </p:cNvSpPr>
          <p:nvPr>
            <p:ph type="sldNum" sz="quarter" idx="12"/>
          </p:nvPr>
        </p:nvSpPr>
        <p:spPr/>
        <p:txBody>
          <a:bodyPr/>
          <a:lstStyle/>
          <a:p>
            <a:fld id="{C2822FB2-3071-4352-B8E4-3C2B5D4CC972}" type="slidenum">
              <a:rPr lang="en-IN" smtClean="0"/>
              <a:t>‹#›</a:t>
            </a:fld>
            <a:endParaRPr lang="en-IN"/>
          </a:p>
        </p:txBody>
      </p:sp>
    </p:spTree>
    <p:extLst>
      <p:ext uri="{BB962C8B-B14F-4D97-AF65-F5344CB8AC3E}">
        <p14:creationId xmlns:p14="http://schemas.microsoft.com/office/powerpoint/2010/main" val="367023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AC7A61-FD8B-3C8D-D2BE-1CF8D97A4A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9A970A-DC71-20BF-B9A2-997C0C063D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9C678F-4AB6-3BB2-028B-DE8AE9242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C27B3-D014-4320-BE56-65301268B7B3}" type="datetime1">
              <a:rPr lang="en-IN" smtClean="0"/>
              <a:t>25-10-2026</a:t>
            </a:fld>
            <a:endParaRPr lang="en-IN"/>
          </a:p>
        </p:txBody>
      </p:sp>
      <p:sp>
        <p:nvSpPr>
          <p:cNvPr id="5" name="Footer Placeholder 4">
            <a:extLst>
              <a:ext uri="{FF2B5EF4-FFF2-40B4-BE49-F238E27FC236}">
                <a16:creationId xmlns:a16="http://schemas.microsoft.com/office/drawing/2014/main" id="{FB30B05E-13E1-41EC-4E78-E729901B2A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1897437-2E82-B4CB-508A-98F434E7C2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822FB2-3071-4352-B8E4-3C2B5D4CC972}" type="slidenum">
              <a:rPr lang="en-IN" smtClean="0"/>
              <a:t>‹#›</a:t>
            </a:fld>
            <a:endParaRPr lang="en-IN"/>
          </a:p>
        </p:txBody>
      </p:sp>
    </p:spTree>
    <p:extLst>
      <p:ext uri="{BB962C8B-B14F-4D97-AF65-F5344CB8AC3E}">
        <p14:creationId xmlns:p14="http://schemas.microsoft.com/office/powerpoint/2010/main" val="1942970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ink.springer.com/article/10.1007/s10462-023-10424-4?utm_source=chatgpt.com" TargetMode="External"/><Relationship Id="rId3" Type="http://schemas.openxmlformats.org/officeDocument/2006/relationships/hyperlink" Target="https://www.sciencedirect.com/science/article/pii/S2542660524002634?utm_source=chatgpt.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48C0-4270-4271-844F-81F54C88E10C}"/>
              </a:ext>
            </a:extLst>
          </p:cNvPr>
          <p:cNvSpPr>
            <a:spLocks noGrp="1"/>
          </p:cNvSpPr>
          <p:nvPr>
            <p:ph type="ctrTitle"/>
          </p:nvPr>
        </p:nvSpPr>
        <p:spPr>
          <a:xfrm>
            <a:off x="837590" y="1234440"/>
            <a:ext cx="10515600" cy="1097280"/>
          </a:xfrm>
        </p:spPr>
        <p:txBody>
          <a:bodyPr>
            <a:noAutofit/>
          </a:bodyPr>
          <a:lstStyle/>
          <a:p>
            <a:pPr algn="ctr"/>
            <a:r>
              <a:rPr sz="3200" b="1">
                <a:latin typeface="+mn-lt"/>
              </a:rPr>
              <a:t>Research Productivity Tools - ADA23SLU07</a:t>
            </a:r>
          </a:p>
          <a:p>
            <a:pPr algn="ctr"/>
            <a:r>
              <a:rPr sz="3200" b="1">
                <a:latin typeface="+mn-lt"/>
              </a:rPr>
              <a:t>Final Assessment</a:t>
            </a:r>
          </a:p>
        </p:txBody>
      </p:sp>
      <p:pic>
        <p:nvPicPr>
          <p:cNvPr id="3" name="Picture 2">
            <a:extLst>
              <a:ext uri="{FF2B5EF4-FFF2-40B4-BE49-F238E27FC236}">
                <a16:creationId xmlns:a16="http://schemas.microsoft.com/office/drawing/2014/main" id="{4D9A9510-5648-445E-1EBE-FB04090590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7316" y="153678"/>
            <a:ext cx="5334318" cy="969462"/>
          </a:xfrm>
          <a:prstGeom prst="rect">
            <a:avLst/>
          </a:prstGeom>
        </p:spPr>
      </p:pic>
      <p:sp>
        <p:nvSpPr>
          <p:cNvPr id="4" name="Date Placeholder 3">
            <a:extLst>
              <a:ext uri="{FF2B5EF4-FFF2-40B4-BE49-F238E27FC236}">
                <a16:creationId xmlns:a16="http://schemas.microsoft.com/office/drawing/2014/main" id="{7179A721-D4A1-1A66-C833-3EAF26B8A962}"/>
              </a:ext>
            </a:extLst>
          </p:cNvPr>
          <p:cNvSpPr>
            <a:spLocks noGrp="1"/>
          </p:cNvSpPr>
          <p:nvPr>
            <p:ph type="dt" sz="half" idx="10"/>
          </p:nvPr>
        </p:nvSpPr>
        <p:spPr>
          <a:xfrm>
            <a:off x="837590" y="6355994"/>
            <a:ext cx="2743200" cy="364845"/>
          </a:xfrm>
        </p:spPr>
        <p:txBody>
          <a:bodyPr/>
          <a:lstStyle/>
          <a:p>
            <a:fld id="{39A90978-40C5-4CB1-B6F1-54AF311FFA85}" type="datetime1">
              <a:rPr lang="en-IN" smtClean="0"/>
              <a:t>25-10-2026</a:t>
            </a:fld>
            <a:endParaRPr lang="en-IN"/>
          </a:p>
        </p:txBody>
      </p:sp>
      <p:sp>
        <p:nvSpPr>
          <p:cNvPr id="5" name="Slide Number Placeholder 4">
            <a:extLst>
              <a:ext uri="{FF2B5EF4-FFF2-40B4-BE49-F238E27FC236}">
                <a16:creationId xmlns:a16="http://schemas.microsoft.com/office/drawing/2014/main" id="{0A8C7BEA-8E7A-F49B-7304-9C9F47973634}"/>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a:t>
            </a:fld>
            <a:endParaRPr lang="en-IN" dirty="0"/>
          </a:p>
        </p:txBody>
      </p:sp>
      <p:sp>
        <p:nvSpPr>
          <p:cNvPr id="6" name="Label Project Type / Domain:"/>
          <p:cNvSpPr txBox="1"/>
          <p:nvPr/>
        </p:nvSpPr>
        <p:spPr>
          <a:xfrm>
            <a:off x="837590" y="2606040"/>
            <a:ext cx="3291840" cy="457200"/>
          </a:xfrm>
          <a:prstGeom prst="rect">
            <a:avLst/>
          </a:prstGeom>
          <a:noFill/>
        </p:spPr>
        <p:txBody>
          <a:bodyPr wrap="square">
            <a:noAutofit/>
          </a:bodyPr>
          <a:lstStyle/>
          <a:p>
            <a:pPr>
              <a:spcAft>
                <a:spcPts val="400"/>
              </a:spcAft>
            </a:pPr>
            <a:r>
              <a:rPr sz="2200" b="1"/>
              <a:t>Project Type / Domain:</a:t>
            </a:r>
          </a:p>
        </p:txBody>
      </p:sp>
      <p:sp>
        <p:nvSpPr>
          <p:cNvPr id="7" name="Value Project Type / Domain:"/>
          <p:cNvSpPr txBox="1"/>
          <p:nvPr/>
        </p:nvSpPr>
        <p:spPr>
          <a:xfrm>
            <a:off x="4206240" y="2606040"/>
            <a:ext cx="7147864" cy="457200"/>
          </a:xfrm>
          <a:prstGeom prst="rect">
            <a:avLst/>
          </a:prstGeom>
          <a:noFill/>
        </p:spPr>
        <p:txBody>
          <a:bodyPr wrap="square">
            <a:noAutofit/>
          </a:bodyPr>
          <a:lstStyle/>
          <a:p>
            <a:pPr>
              <a:spcAft>
                <a:spcPts val="200"/>
              </a:spcAft>
            </a:pPr>
            <a:r>
              <a:rPr sz="2200" b="0"/>
              <a:t>Internal / Artificial Intelligence</a:t>
            </a:r>
          </a:p>
        </p:txBody>
      </p:sp>
      <p:sp>
        <p:nvSpPr>
          <p:cNvPr id="8" name="Label Project Title:"/>
          <p:cNvSpPr txBox="1"/>
          <p:nvPr/>
        </p:nvSpPr>
        <p:spPr>
          <a:xfrm>
            <a:off x="837590" y="3154680"/>
            <a:ext cx="3291840" cy="914400"/>
          </a:xfrm>
          <a:prstGeom prst="rect">
            <a:avLst/>
          </a:prstGeom>
          <a:noFill/>
        </p:spPr>
        <p:txBody>
          <a:bodyPr wrap="square">
            <a:noAutofit/>
          </a:bodyPr>
          <a:lstStyle/>
          <a:p>
            <a:pPr>
              <a:spcAft>
                <a:spcPts val="400"/>
              </a:spcAft>
            </a:pPr>
            <a:r>
              <a:rPr sz="2200" b="1"/>
              <a:t>Project Title:</a:t>
            </a:r>
          </a:p>
        </p:txBody>
      </p:sp>
      <p:sp>
        <p:nvSpPr>
          <p:cNvPr id="9" name="Value Project Title:"/>
          <p:cNvSpPr txBox="1"/>
          <p:nvPr/>
        </p:nvSpPr>
        <p:spPr>
          <a:xfrm>
            <a:off x="4206240" y="3154680"/>
            <a:ext cx="7147864" cy="1188720"/>
          </a:xfrm>
          <a:prstGeom prst="rect">
            <a:avLst/>
          </a:prstGeom>
          <a:noFill/>
        </p:spPr>
        <p:txBody>
          <a:bodyPr wrap="square">
            <a:noAutofit/>
          </a:bodyPr>
          <a:lstStyle/>
          <a:p>
            <a:pPr>
              <a:spcAft>
                <a:spcPts val="200"/>
              </a:spcAft>
            </a:pPr>
            <a:r>
              <a:rPr lang="en-IN" sz="2400" dirty="0"/>
              <a:t>NEXUS: A Hybrid Memory-Augmented Multimodal Multi-Agent Framework for Personalized Desktop AI Assistants</a:t>
            </a:r>
            <a:endParaRPr sz="2400" b="0" dirty="0"/>
          </a:p>
        </p:txBody>
      </p:sp>
      <p:sp>
        <p:nvSpPr>
          <p:cNvPr id="10" name="Label Presented By:"/>
          <p:cNvSpPr txBox="1"/>
          <p:nvPr/>
        </p:nvSpPr>
        <p:spPr>
          <a:xfrm>
            <a:off x="837590" y="4526280"/>
            <a:ext cx="3291840" cy="914400"/>
          </a:xfrm>
          <a:prstGeom prst="rect">
            <a:avLst/>
          </a:prstGeom>
          <a:noFill/>
        </p:spPr>
        <p:txBody>
          <a:bodyPr wrap="square">
            <a:noAutofit/>
          </a:bodyPr>
          <a:lstStyle/>
          <a:p>
            <a:pPr>
              <a:spcAft>
                <a:spcPts val="400"/>
              </a:spcAft>
            </a:pPr>
            <a:r>
              <a:rPr sz="2200" b="1"/>
              <a:t>Presented By:</a:t>
            </a:r>
          </a:p>
        </p:txBody>
      </p:sp>
      <p:sp>
        <p:nvSpPr>
          <p:cNvPr id="11" name="Value Presented By:"/>
          <p:cNvSpPr txBox="1"/>
          <p:nvPr/>
        </p:nvSpPr>
        <p:spPr>
          <a:xfrm>
            <a:off x="4206240" y="4526280"/>
            <a:ext cx="7147864" cy="914400"/>
          </a:xfrm>
          <a:prstGeom prst="rect">
            <a:avLst/>
          </a:prstGeom>
          <a:noFill/>
        </p:spPr>
        <p:txBody>
          <a:bodyPr wrap="square">
            <a:noAutofit/>
          </a:bodyPr>
          <a:lstStyle/>
          <a:p>
            <a:pPr>
              <a:spcAft>
                <a:spcPts val="200"/>
              </a:spcAft>
            </a:pPr>
            <a:r>
              <a:rPr lang="en-IN" sz="2200" b="0" dirty="0"/>
              <a:t>1. Bharathram K</a:t>
            </a:r>
          </a:p>
          <a:p>
            <a:pPr>
              <a:spcAft>
                <a:spcPts val="200"/>
              </a:spcAft>
            </a:pPr>
            <a:r>
              <a:rPr lang="en-IN" sz="2200" b="0" dirty="0"/>
              <a:t>2. Vishal S</a:t>
            </a:r>
          </a:p>
        </p:txBody>
      </p:sp>
      <p:sp>
        <p:nvSpPr>
          <p:cNvPr id="12" name="Label Guided by:"/>
          <p:cNvSpPr txBox="1"/>
          <p:nvPr/>
        </p:nvSpPr>
        <p:spPr>
          <a:xfrm>
            <a:off x="837590" y="5623560"/>
            <a:ext cx="3291840" cy="457200"/>
          </a:xfrm>
          <a:prstGeom prst="rect">
            <a:avLst/>
          </a:prstGeom>
          <a:noFill/>
        </p:spPr>
        <p:txBody>
          <a:bodyPr wrap="square">
            <a:noAutofit/>
          </a:bodyPr>
          <a:lstStyle/>
          <a:p>
            <a:pPr>
              <a:spcAft>
                <a:spcPts val="400"/>
              </a:spcAft>
            </a:pPr>
            <a:r>
              <a:rPr sz="2200" b="1"/>
              <a:t>Guided by:</a:t>
            </a:r>
          </a:p>
        </p:txBody>
      </p:sp>
      <p:sp>
        <p:nvSpPr>
          <p:cNvPr id="13" name="Value Guided by:"/>
          <p:cNvSpPr txBox="1"/>
          <p:nvPr/>
        </p:nvSpPr>
        <p:spPr>
          <a:xfrm>
            <a:off x="4206240" y="5623560"/>
            <a:ext cx="7147864" cy="457200"/>
          </a:xfrm>
          <a:prstGeom prst="rect">
            <a:avLst/>
          </a:prstGeom>
          <a:noFill/>
        </p:spPr>
        <p:txBody>
          <a:bodyPr wrap="square">
            <a:noAutofit/>
          </a:bodyPr>
          <a:lstStyle/>
          <a:p>
            <a:pPr>
              <a:spcAft>
                <a:spcPts val="200"/>
              </a:spcAft>
            </a:pPr>
            <a:endParaRPr/>
          </a:p>
        </p:txBody>
      </p:sp>
    </p:spTree>
    <p:extLst>
      <p:ext uri="{BB962C8B-B14F-4D97-AF65-F5344CB8AC3E}">
        <p14:creationId xmlns:p14="http://schemas.microsoft.com/office/powerpoint/2010/main" val="2364943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51137-E653-64F7-9793-4BE0D0308A37}"/>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panose="020B0502040204020203" pitchFamily="34" charset="0"/>
                <a:cs typeface="Segoe UI" panose="020B0502040204020203" pitchFamily="34" charset="0"/>
              </a:rPr>
              <a:t>Contents</a:t>
            </a:r>
            <a:endParaRPr lang="en-IN" dirty="0"/>
          </a:p>
        </p:txBody>
      </p:sp>
      <p:sp>
        <p:nvSpPr>
          <p:cNvPr id="3" name="Content Placeholder 2">
            <a:extLst>
              <a:ext uri="{FF2B5EF4-FFF2-40B4-BE49-F238E27FC236}">
                <a16:creationId xmlns:a16="http://schemas.microsoft.com/office/drawing/2014/main" id="{56B6CC63-EAC3-97F8-897E-2AA571D0318D}"/>
              </a:ext>
            </a:extLst>
          </p:cNvPr>
          <p:cNvSpPr>
            <a:spLocks noGrp="1"/>
          </p:cNvSpPr>
          <p:nvPr>
            <p:ph idx="1"/>
          </p:nvPr>
        </p:nvSpPr>
        <p:spPr>
          <a:xfrm>
            <a:off x="837590" y="1508760"/>
            <a:ext cx="5120640" cy="4572000"/>
          </a:xfrm>
        </p:spPr>
        <p:txBody>
          <a:bodyPr wrap="square">
            <a:noAutofit/>
          </a:bodyPr>
          <a:lstStyle/>
          <a:p>
            <a:pPr algn="l">
              <a:lnSpc>
                <a:spcPct val="100000"/>
              </a:lnSpc>
              <a:spcAft>
                <a:spcPts val="800"/>
              </a:spcAft>
            </a:pPr>
            <a:r>
              <a:rPr lang="en-US" sz="2400" dirty="0">
                <a:latin typeface="+mn-lt"/>
                <a:cs typeface="Segoe UI" panose="020B0502040204020203" pitchFamily="34" charset="0"/>
              </a:rPr>
              <a:t>Introduction (Background Research)</a:t>
            </a:r>
          </a:p>
          <a:p>
            <a:pPr algn="l">
              <a:lnSpc>
                <a:spcPct val="100000"/>
              </a:lnSpc>
              <a:spcAft>
                <a:spcPts val="800"/>
              </a:spcAft>
            </a:pPr>
            <a:r>
              <a:rPr lang="en-US" sz="2400" dirty="0">
                <a:latin typeface="+mn-lt"/>
                <a:cs typeface="Segoe UI" panose="020B0502040204020203" pitchFamily="34" charset="0"/>
              </a:rPr>
              <a:t>Problem statement</a:t>
            </a:r>
          </a:p>
          <a:p>
            <a:pPr algn="l">
              <a:lnSpc>
                <a:spcPct val="100000"/>
              </a:lnSpc>
              <a:spcAft>
                <a:spcPts val="800"/>
              </a:spcAft>
            </a:pPr>
            <a:r>
              <a:rPr lang="en-US" sz="2400" dirty="0">
                <a:latin typeface="+mn-lt"/>
                <a:cs typeface="Segoe UI" panose="020B0502040204020203" pitchFamily="34" charset="0"/>
              </a:rPr>
              <a:t>Literature Survey </a:t>
            </a:r>
          </a:p>
          <a:p>
            <a:pPr algn="l">
              <a:lnSpc>
                <a:spcPct val="100000"/>
              </a:lnSpc>
              <a:spcAft>
                <a:spcPts val="800"/>
              </a:spcAft>
            </a:pPr>
            <a:r>
              <a:rPr lang="en-US" sz="2400" dirty="0">
                <a:latin typeface="+mn-lt"/>
                <a:cs typeface="Segoe UI" panose="020B0502040204020203" pitchFamily="34" charset="0"/>
              </a:rPr>
              <a:t>Objective </a:t>
            </a:r>
          </a:p>
          <a:p>
            <a:pPr algn="l">
              <a:lnSpc>
                <a:spcPct val="100000"/>
              </a:lnSpc>
              <a:spcAft>
                <a:spcPts val="800"/>
              </a:spcAft>
            </a:pPr>
            <a:r>
              <a:rPr lang="en-US" sz="2400" dirty="0">
                <a:latin typeface="+mn-lt"/>
                <a:cs typeface="Segoe UI" panose="020B0502040204020203" pitchFamily="34" charset="0"/>
              </a:rPr>
              <a:t>Workflow Diagram</a:t>
            </a:r>
          </a:p>
          <a:p>
            <a:pPr algn="l">
              <a:lnSpc>
                <a:spcPct val="100000"/>
              </a:lnSpc>
              <a:spcAft>
                <a:spcPts val="800"/>
              </a:spcAft>
            </a:pPr>
            <a:r>
              <a:rPr lang="en-US" sz="2400" dirty="0">
                <a:latin typeface="+mn-lt"/>
                <a:cs typeface="Segoe UI" panose="020B0502040204020203" pitchFamily="34" charset="0"/>
              </a:rPr>
              <a:t>Methodology</a:t>
            </a:r>
          </a:p>
          <a:p>
            <a:pPr algn="l">
              <a:lnSpc>
                <a:spcPct val="100000"/>
              </a:lnSpc>
              <a:spcAft>
                <a:spcPts val="800"/>
              </a:spcAft>
            </a:pPr>
            <a:r>
              <a:rPr lang="en-US" sz="2400" dirty="0">
                <a:latin typeface="+mn-lt"/>
                <a:cs typeface="Segoe UI" panose="020B0502040204020203" pitchFamily="34" charset="0"/>
              </a:rPr>
              <a:t>Tools and Techniques</a:t>
            </a:r>
          </a:p>
        </p:txBody>
      </p:sp>
      <p:sp>
        <p:nvSpPr>
          <p:cNvPr id="5" name="Content Placeholder 3">
            <a:extLst>
              <a:ext uri="{FF2B5EF4-FFF2-40B4-BE49-F238E27FC236}">
                <a16:creationId xmlns:a16="http://schemas.microsoft.com/office/drawing/2014/main" id="{D5A906B0-7E00-104A-E40A-2EA00920EBCE}"/>
              </a:ext>
            </a:extLst>
          </p:cNvPr>
          <p:cNvSpPr txBox="1">
            <a:spLocks/>
          </p:cNvSpPr>
          <p:nvPr/>
        </p:nvSpPr>
        <p:spPr>
          <a:xfrm>
            <a:off x="6309360" y="1508760"/>
            <a:ext cx="5029200" cy="457200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spcAft>
                <a:spcPts val="800"/>
              </a:spcAft>
            </a:pPr>
            <a:r>
              <a:rPr lang="en-IN" sz="2400" dirty="0">
                <a:latin typeface="+mn-lt"/>
                <a:cs typeface="Segoe UI" panose="020B0502040204020203" pitchFamily="34" charset="0"/>
              </a:rPr>
              <a:t>Implementation (System description/ environment setup)</a:t>
            </a:r>
          </a:p>
          <a:p>
            <a:pPr algn="l">
              <a:lnSpc>
                <a:spcPct val="100000"/>
              </a:lnSpc>
              <a:spcAft>
                <a:spcPts val="800"/>
              </a:spcAft>
            </a:pPr>
            <a:r>
              <a:rPr lang="en-IN" sz="2400" dirty="0">
                <a:latin typeface="+mn-lt"/>
                <a:cs typeface="Segoe UI" panose="020B0502040204020203" pitchFamily="34" charset="0"/>
              </a:rPr>
              <a:t>Result Analysis (Metrics, Benefits)</a:t>
            </a:r>
          </a:p>
          <a:p>
            <a:pPr algn="l">
              <a:lnSpc>
                <a:spcPct val="100000"/>
              </a:lnSpc>
              <a:spcAft>
                <a:spcPts val="800"/>
              </a:spcAft>
            </a:pPr>
            <a:r>
              <a:rPr lang="en-US" sz="2400" dirty="0">
                <a:latin typeface="+mn-lt"/>
                <a:cs typeface="Segoe UI" panose="020B0502040204020203" pitchFamily="34" charset="0"/>
              </a:rPr>
              <a:t>Conclusion</a:t>
            </a:r>
          </a:p>
          <a:p>
            <a:pPr algn="l">
              <a:lnSpc>
                <a:spcPct val="100000"/>
              </a:lnSpc>
              <a:spcAft>
                <a:spcPts val="800"/>
              </a:spcAft>
            </a:pPr>
            <a:r>
              <a:rPr lang="en-US" sz="2400" dirty="0">
                <a:latin typeface="+mn-lt"/>
                <a:cs typeface="Segoe UI" panose="020B0502040204020203" pitchFamily="34" charset="0"/>
              </a:rPr>
              <a:t>Future scope </a:t>
            </a:r>
          </a:p>
          <a:p>
            <a:pPr algn="l">
              <a:lnSpc>
                <a:spcPct val="100000"/>
              </a:lnSpc>
              <a:spcAft>
                <a:spcPts val="800"/>
              </a:spcAft>
            </a:pPr>
            <a:r>
              <a:rPr lang="en-US" sz="2400" dirty="0">
                <a:latin typeface="+mn-lt"/>
                <a:cs typeface="Segoe UI" panose="020B0502040204020203" pitchFamily="34" charset="0"/>
              </a:rPr>
              <a:t>References (Min. 10 References)</a:t>
            </a:r>
          </a:p>
          <a:p>
            <a:pPr algn="l">
              <a:lnSpc>
                <a:spcPct val="100000"/>
              </a:lnSpc>
              <a:spcAft>
                <a:spcPts val="800"/>
              </a:spcAft>
            </a:pPr>
            <a:endParaRPr lang="en-IN" sz="2400" dirty="0"/>
          </a:p>
        </p:txBody>
      </p:sp>
      <p:sp>
        <p:nvSpPr>
          <p:cNvPr id="6" name="Date Placeholder 5">
            <a:extLst>
              <a:ext uri="{FF2B5EF4-FFF2-40B4-BE49-F238E27FC236}">
                <a16:creationId xmlns:a16="http://schemas.microsoft.com/office/drawing/2014/main" id="{BCFCBEC0-D582-208F-CF0F-F1F77D6EE1A5}"/>
              </a:ext>
            </a:extLst>
          </p:cNvPr>
          <p:cNvSpPr>
            <a:spLocks noGrp="1"/>
          </p:cNvSpPr>
          <p:nvPr>
            <p:ph type="dt" sz="half" idx="10"/>
          </p:nvPr>
        </p:nvSpPr>
        <p:spPr>
          <a:xfrm>
            <a:off x="837590" y="6355994"/>
            <a:ext cx="2743200" cy="364845"/>
          </a:xfrm>
        </p:spPr>
        <p:txBody>
          <a:bodyPr/>
          <a:lstStyle/>
          <a:p>
            <a:fld id="{DFB1CC0E-8537-4F96-9045-5D1C7B66F6A3}" type="datetime1">
              <a:rPr lang="en-IN" smtClean="0"/>
              <a:t>25-10-2026</a:t>
            </a:fld>
            <a:endParaRPr lang="en-IN"/>
          </a:p>
        </p:txBody>
      </p:sp>
      <p:sp>
        <p:nvSpPr>
          <p:cNvPr id="7" name="Slide Number Placeholder 6">
            <a:extLst>
              <a:ext uri="{FF2B5EF4-FFF2-40B4-BE49-F238E27FC236}">
                <a16:creationId xmlns:a16="http://schemas.microsoft.com/office/drawing/2014/main" id="{D1954C0C-4651-5047-1F22-59DBD775ACC9}"/>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2</a:t>
            </a:fld>
            <a:endParaRPr lang="en-IN"/>
          </a:p>
        </p:txBody>
      </p:sp>
    </p:spTree>
    <p:extLst>
      <p:ext uri="{BB962C8B-B14F-4D97-AF65-F5344CB8AC3E}">
        <p14:creationId xmlns:p14="http://schemas.microsoft.com/office/powerpoint/2010/main" val="1139609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16088-C5B7-6801-68DF-2C4D18B083CD}"/>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rPr>
              <a:t>Introduction</a:t>
            </a:r>
            <a:endParaRPr lang="en-IN" dirty="0">
              <a:latin typeface="+mn-lt"/>
              <a:ea typeface="Calibri"/>
              <a:cs typeface="Calibri"/>
            </a:endParaRPr>
          </a:p>
        </p:txBody>
      </p:sp>
      <p:sp>
        <p:nvSpPr>
          <p:cNvPr id="3" name="Content Placeholder 2">
            <a:extLst>
              <a:ext uri="{FF2B5EF4-FFF2-40B4-BE49-F238E27FC236}">
                <a16:creationId xmlns:a16="http://schemas.microsoft.com/office/drawing/2014/main" id="{10208DFD-FACA-0EFE-EBD2-ABE2321EFCB3}"/>
              </a:ext>
            </a:extLst>
          </p:cNvPr>
          <p:cNvSpPr>
            <a:spLocks noGrp="1"/>
          </p:cNvSpPr>
          <p:nvPr>
            <p:ph idx="1"/>
          </p:nvPr>
        </p:nvSpPr>
        <p:spPr>
          <a:xfrm>
            <a:off x="837590" y="1366147"/>
            <a:ext cx="10515600" cy="4663440"/>
          </a:xfrm>
        </p:spPr>
        <p:txBody>
          <a:bodyPr vert="horz" wrap="square" lIns="91440" tIns="45720" rIns="91440" bIns="45720" rtlCol="0" anchor="t">
            <a:noAutofit/>
          </a:bodyPr>
          <a:lstStyle/>
          <a:p>
            <a:pPr algn="just"/>
            <a:r>
              <a:rPr lang="en-IN" sz="2400" dirty="0"/>
              <a:t>Desktop computing is moving from static GUI navigation to autonomous, voice-first interaction. Conventional cloud voice assistants forget past sessions, treat every user identically, and cannot see the active screen, so users still spend over 60% of their time switching between windows, terminals, and documentation.</a:t>
            </a:r>
          </a:p>
          <a:p>
            <a:pPr algn="just"/>
            <a:r>
              <a:rPr lang="en-IN" sz="2400" dirty="0"/>
              <a:t>NEXUS is a hybrid memory-augmented, multimodal, multi-agent framework for personalized desktop AI assistants. It fuses six perception modalities, including voice, screen vision and OCR, and workspace telemetry. Specialized Planning, Reasoning, Memory, and Tool agents are coordinated by an orchestrator, and knowledge is stored in a four-tier hybrid memory. Activated by the wake-word “Hey Nexus”, the system runs 100% on-device with a local LLM and verifies every action with AST checks before execution.</a:t>
            </a:r>
          </a:p>
          <a:p>
            <a:pPr marL="0" indent="0" algn="just">
              <a:spcAft>
                <a:spcPts val="1200"/>
              </a:spcAft>
              <a:buNone/>
            </a:pPr>
            <a:endParaRPr lang="en-US" sz="2400" dirty="0"/>
          </a:p>
        </p:txBody>
      </p:sp>
      <p:sp>
        <p:nvSpPr>
          <p:cNvPr id="4" name="Date Placeholder 3">
            <a:extLst>
              <a:ext uri="{FF2B5EF4-FFF2-40B4-BE49-F238E27FC236}">
                <a16:creationId xmlns:a16="http://schemas.microsoft.com/office/drawing/2014/main" id="{0FE1A394-FF9D-1161-AFC5-CF4D8FB3DF38}"/>
              </a:ext>
            </a:extLst>
          </p:cNvPr>
          <p:cNvSpPr>
            <a:spLocks noGrp="1"/>
          </p:cNvSpPr>
          <p:nvPr>
            <p:ph type="dt" sz="half" idx="10"/>
          </p:nvPr>
        </p:nvSpPr>
        <p:spPr>
          <a:xfrm>
            <a:off x="837590" y="6355994"/>
            <a:ext cx="2743200" cy="364845"/>
          </a:xfrm>
        </p:spPr>
        <p:txBody>
          <a:bodyPr/>
          <a:lstStyle/>
          <a:p>
            <a:fld id="{26C21528-6881-453E-9696-D4A46595F4C0}" type="datetime1">
              <a:rPr lang="en-IN" smtClean="0"/>
              <a:t>25-10-2026</a:t>
            </a:fld>
            <a:endParaRPr lang="en-IN" dirty="0"/>
          </a:p>
        </p:txBody>
      </p:sp>
      <p:sp>
        <p:nvSpPr>
          <p:cNvPr id="5" name="Slide Number Placeholder 4">
            <a:extLst>
              <a:ext uri="{FF2B5EF4-FFF2-40B4-BE49-F238E27FC236}">
                <a16:creationId xmlns:a16="http://schemas.microsoft.com/office/drawing/2014/main" id="{FAB4E2DA-1C29-7ADA-1F19-E79317861C55}"/>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3</a:t>
            </a:fld>
            <a:endParaRPr lang="en-IN"/>
          </a:p>
        </p:txBody>
      </p:sp>
    </p:spTree>
    <p:extLst>
      <p:ext uri="{BB962C8B-B14F-4D97-AF65-F5344CB8AC3E}">
        <p14:creationId xmlns:p14="http://schemas.microsoft.com/office/powerpoint/2010/main" val="3623152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3A36B-5937-927A-67AB-9018548BDD05}"/>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rPr>
              <a:t>Problem Statement</a:t>
            </a:r>
          </a:p>
        </p:txBody>
      </p:sp>
      <p:sp>
        <p:nvSpPr>
          <p:cNvPr id="3" name="Content Placeholder 2">
            <a:extLst>
              <a:ext uri="{FF2B5EF4-FFF2-40B4-BE49-F238E27FC236}">
                <a16:creationId xmlns:a16="http://schemas.microsoft.com/office/drawing/2014/main" id="{68493F49-849F-609E-39FD-D408E0B626BE}"/>
              </a:ext>
            </a:extLst>
          </p:cNvPr>
          <p:cNvSpPr>
            <a:spLocks noGrp="1"/>
          </p:cNvSpPr>
          <p:nvPr>
            <p:ph idx="1"/>
          </p:nvPr>
        </p:nvSpPr>
        <p:spPr>
          <a:xfrm>
            <a:off x="837590" y="1508760"/>
            <a:ext cx="10515600" cy="4663440"/>
          </a:xfrm>
        </p:spPr>
        <p:txBody>
          <a:bodyPr wrap="square">
            <a:noAutofit/>
          </a:bodyPr>
          <a:lstStyle/>
          <a:p>
            <a:pPr marL="0" indent="0">
              <a:spcAft>
                <a:spcPts val="1200"/>
              </a:spcAft>
              <a:buNone/>
            </a:pPr>
            <a:r>
              <a:rPr lang="en-IN" sz="2400" dirty="0"/>
              <a:t>Conventional desktop AI assistants suffer from four critical bottlenecks. They have limited, amnesic memory: instructions are forgotten after each session and linear context windows truncate facts. They lack true personalization, treating every developer identically and ignoring coding conventions. Their interaction is fragmented, since voice tools cannot see the active screen, IDE, or CPU/RAM load. Finally, they pose severe privacy and security risks by sending code, screenshots, and audio to third-party cloud servers and by running shell scripts without AST safety checks, which breaches HIPAA, GDPR, and NDA requirements. A private, memory-augmented, multimodal multi-agent assistant is therefore needed.</a:t>
            </a:r>
          </a:p>
        </p:txBody>
      </p:sp>
      <p:sp>
        <p:nvSpPr>
          <p:cNvPr id="4" name="Date Placeholder 3">
            <a:extLst>
              <a:ext uri="{FF2B5EF4-FFF2-40B4-BE49-F238E27FC236}">
                <a16:creationId xmlns:a16="http://schemas.microsoft.com/office/drawing/2014/main" id="{1BE74148-A742-A25A-805D-48A2B6041757}"/>
              </a:ext>
            </a:extLst>
          </p:cNvPr>
          <p:cNvSpPr>
            <a:spLocks noGrp="1"/>
          </p:cNvSpPr>
          <p:nvPr>
            <p:ph type="dt" sz="half" idx="10"/>
          </p:nvPr>
        </p:nvSpPr>
        <p:spPr>
          <a:xfrm>
            <a:off x="837590" y="6355994"/>
            <a:ext cx="2743200" cy="364845"/>
          </a:xfrm>
        </p:spPr>
        <p:txBody>
          <a:bodyPr/>
          <a:lstStyle/>
          <a:p>
            <a:fld id="{3AB6E848-C34D-46EE-AFEE-B494FA258BB3}" type="datetime1">
              <a:rPr lang="en-IN" smtClean="0"/>
              <a:t>25-10-2026</a:t>
            </a:fld>
            <a:endParaRPr lang="en-IN"/>
          </a:p>
        </p:txBody>
      </p:sp>
      <p:sp>
        <p:nvSpPr>
          <p:cNvPr id="5" name="Slide Number Placeholder 4">
            <a:extLst>
              <a:ext uri="{FF2B5EF4-FFF2-40B4-BE49-F238E27FC236}">
                <a16:creationId xmlns:a16="http://schemas.microsoft.com/office/drawing/2014/main" id="{48328AD5-068E-6E79-1258-C60375FB8E5E}"/>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4</a:t>
            </a:fld>
            <a:endParaRPr lang="en-IN"/>
          </a:p>
        </p:txBody>
      </p:sp>
    </p:spTree>
    <p:extLst>
      <p:ext uri="{BB962C8B-B14F-4D97-AF65-F5344CB8AC3E}">
        <p14:creationId xmlns:p14="http://schemas.microsoft.com/office/powerpoint/2010/main" val="604786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8F4DA-495C-D1AC-49C8-0532328E41AA}"/>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rPr>
              <a:t>Literature Survey</a:t>
            </a:r>
          </a:p>
        </p:txBody>
      </p:sp>
      <p:graphicFrame>
        <p:nvGraphicFramePr>
          <p:cNvPr id="8" name="Content Placeholder 7">
            <a:extLst>
              <a:ext uri="{FF2B5EF4-FFF2-40B4-BE49-F238E27FC236}">
                <a16:creationId xmlns:a16="http://schemas.microsoft.com/office/drawing/2014/main" id="{E0F39239-3D32-258A-E9D0-65EA0B6ECFF3}"/>
              </a:ext>
            </a:extLst>
          </p:cNvPr>
          <p:cNvGraphicFramePr>
            <a:graphicFrameLocks noGrp="1"/>
          </p:cNvGraphicFramePr>
          <p:nvPr>
            <p:ph idx="1"/>
            <p:extLst>
              <p:ext uri="{D42A27DB-BD31-4B8C-83A1-F6EECF244321}">
                <p14:modId xmlns:p14="http://schemas.microsoft.com/office/powerpoint/2010/main" val="1615499059"/>
              </p:ext>
            </p:extLst>
          </p:nvPr>
        </p:nvGraphicFramePr>
        <p:xfrm>
          <a:off x="837590" y="1417320"/>
          <a:ext cx="10515600" cy="448056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373999984"/>
                    </a:ext>
                  </a:extLst>
                </a:gridCol>
                <a:gridCol w="1828800">
                  <a:extLst>
                    <a:ext uri="{9D8B030D-6E8A-4147-A177-3AD203B41FA5}">
                      <a16:colId xmlns:a16="http://schemas.microsoft.com/office/drawing/2014/main" val="2226070341"/>
                    </a:ext>
                  </a:extLst>
                </a:gridCol>
                <a:gridCol w="2286000">
                  <a:extLst>
                    <a:ext uri="{9D8B030D-6E8A-4147-A177-3AD203B41FA5}">
                      <a16:colId xmlns:a16="http://schemas.microsoft.com/office/drawing/2014/main" val="4204565767"/>
                    </a:ext>
                  </a:extLst>
                </a:gridCol>
                <a:gridCol w="2011680">
                  <a:extLst>
                    <a:ext uri="{9D8B030D-6E8A-4147-A177-3AD203B41FA5}">
                      <a16:colId xmlns:a16="http://schemas.microsoft.com/office/drawing/2014/main" val="1660913277"/>
                    </a:ext>
                  </a:extLst>
                </a:gridCol>
                <a:gridCol w="2011680">
                  <a:extLst>
                    <a:ext uri="{9D8B030D-6E8A-4147-A177-3AD203B41FA5}">
                      <a16:colId xmlns:a16="http://schemas.microsoft.com/office/drawing/2014/main" val="3767167159"/>
                    </a:ext>
                  </a:extLst>
                </a:gridCol>
              </a:tblGrid>
              <a:tr h="502920">
                <a:tc>
                  <a:txBody>
                    <a:bodyPr/>
                    <a:lstStyle/>
                    <a:p>
                      <a:pPr algn="l">
                        <a:buNone/>
                      </a:pPr>
                      <a:r>
                        <a:rPr lang="en-IN" sz="1200" dirty="0"/>
                        <a:t>Research Paper Title and Year</a:t>
                      </a:r>
                    </a:p>
                  </a:txBody>
                  <a:tcPr anchor="ctr"/>
                </a:tc>
                <a:tc>
                  <a:txBody>
                    <a:bodyPr/>
                    <a:lstStyle/>
                    <a:p>
                      <a:pPr algn="l">
                        <a:buNone/>
                      </a:pPr>
                      <a:r>
                        <a:rPr lang="en-IN" sz="1200"/>
                        <a:t>Author Name and Publication</a:t>
                      </a:r>
                    </a:p>
                  </a:txBody>
                  <a:tcPr anchor="ctr"/>
                </a:tc>
                <a:tc>
                  <a:txBody>
                    <a:bodyPr/>
                    <a:lstStyle/>
                    <a:p>
                      <a:pPr algn="just">
                        <a:buNone/>
                      </a:pPr>
                      <a:r>
                        <a:rPr lang="en-IN" sz="1200"/>
                        <a:t>Methodology</a:t>
                      </a:r>
                    </a:p>
                  </a:txBody>
                  <a:tcPr anchor="ctr"/>
                </a:tc>
                <a:tc>
                  <a:txBody>
                    <a:bodyPr/>
                    <a:lstStyle/>
                    <a:p>
                      <a:pPr algn="just">
                        <a:buNone/>
                      </a:pPr>
                      <a:r>
                        <a:rPr lang="en-IN" sz="1200"/>
                        <a:t>Advantages</a:t>
                      </a:r>
                    </a:p>
                  </a:txBody>
                  <a:tcPr anchor="ctr"/>
                </a:tc>
                <a:tc>
                  <a:txBody>
                    <a:bodyPr/>
                    <a:lstStyle/>
                    <a:p>
                      <a:pPr algn="just">
                        <a:buNone/>
                      </a:pPr>
                      <a:r>
                        <a:rPr lang="en-IN" sz="1200"/>
                        <a:t>Limitations</a:t>
                      </a:r>
                    </a:p>
                  </a:txBody>
                  <a:tcPr anchor="ctr"/>
                </a:tc>
                <a:extLst>
                  <a:ext uri="{0D108BD9-81ED-4DB2-BD59-A6C34878D82A}">
                    <a16:rowId xmlns:a16="http://schemas.microsoft.com/office/drawing/2014/main" val="2729781056"/>
                  </a:ext>
                </a:extLst>
              </a:tr>
              <a:tr h="1325880">
                <a:tc>
                  <a:txBody>
                    <a:bodyPr/>
                    <a:lstStyle/>
                    <a:p>
                      <a:pPr algn="l">
                        <a:buNone/>
                      </a:pPr>
                      <a:r>
                        <a:rPr lang="en-IN" sz="1200" b="1"/>
                        <a:t>PrepInterview: A Multimodal AI System to Enhance Student Interview Skills (2026)</a:t>
                      </a:r>
                      <a:endParaRPr lang="en-IN" sz="1500"/>
                    </a:p>
                  </a:txBody>
                  <a:tcPr anchor="ctr"/>
                </a:tc>
                <a:tc>
                  <a:txBody>
                    <a:bodyPr/>
                    <a:lstStyle/>
                    <a:p>
                      <a:pPr algn="l">
                        <a:buNone/>
                      </a:pPr>
                      <a:r>
                        <a:rPr lang="en-IN" sz="1200"/>
                        <a:t>S. Padiyar, IEEE Transactions on Learning Technologies</a:t>
                      </a:r>
                      <a:endParaRPr lang="en-IN" sz="1500"/>
                    </a:p>
                  </a:txBody>
                  <a:tcPr anchor="ctr"/>
                </a:tc>
                <a:tc>
                  <a:txBody>
                    <a:bodyPr/>
                    <a:lstStyle/>
                    <a:p>
                      <a:pPr algn="l">
                        <a:buNone/>
                      </a:pPr>
                      <a:r>
                        <a:rPr lang="en-IN" sz="1200"/>
                        <a:t>Multimodal AI system that supports student interview practice.</a:t>
                      </a:r>
                    </a:p>
                  </a:txBody>
                  <a:tcPr anchor="ctr"/>
                </a:tc>
                <a:tc>
                  <a:txBody>
                    <a:bodyPr/>
                    <a:lstStyle/>
                    <a:p>
                      <a:pPr algn="l">
                        <a:buNone/>
                      </a:pPr>
                      <a:r>
                        <a:rPr lang="en-IN" sz="1200"/>
                        <a:t>Combines multiple input modalities to help improve interview skills.</a:t>
                      </a:r>
                    </a:p>
                  </a:txBody>
                  <a:tcPr anchor="ctr"/>
                </a:tc>
                <a:tc>
                  <a:txBody>
                    <a:bodyPr/>
                    <a:lstStyle/>
                    <a:p>
                      <a:pPr algn="l">
                        <a:buNone/>
                      </a:pPr>
                      <a:r>
                        <a:rPr lang="en-IN" sz="1200"/>
                        <a:t>Scope is limited to interview preparation, not general desktop assistance.</a:t>
                      </a:r>
                      <a:endParaRPr lang="en-IN" sz="1500" dirty="0"/>
                    </a:p>
                  </a:txBody>
                  <a:tcPr anchor="ctr"/>
                </a:tc>
                <a:extLst>
                  <a:ext uri="{0D108BD9-81ED-4DB2-BD59-A6C34878D82A}">
                    <a16:rowId xmlns:a16="http://schemas.microsoft.com/office/drawing/2014/main" val="3600217281"/>
                  </a:ext>
                </a:extLst>
              </a:tr>
              <a:tr h="1325880">
                <a:tc>
                  <a:txBody>
                    <a:bodyPr/>
                    <a:lstStyle/>
                    <a:p>
                      <a:pPr algn="l">
                        <a:buNone/>
                      </a:pPr>
                      <a:r>
                        <a:rPr lang="en-IN" sz="1200" b="1"/>
                        <a:t>Interview AI-ssistant: Designing for Real-Time Human-AI Collaboration in Interview Preparation and Execution (2025)</a:t>
                      </a:r>
                      <a:endParaRPr lang="en-IN" sz="1500"/>
                    </a:p>
                  </a:txBody>
                  <a:tcPr anchor="ctr"/>
                </a:tc>
                <a:tc>
                  <a:txBody>
                    <a:bodyPr/>
                    <a:lstStyle/>
                    <a:p>
                      <a:pPr algn="l">
                        <a:buNone/>
                      </a:pPr>
                      <a:r>
                        <a:rPr lang="en-IN" sz="1200"/>
                        <a:t>Z. Liu, ACM CHI Conference on Human Factors in Computing Systems</a:t>
                      </a:r>
                    </a:p>
                  </a:txBody>
                  <a:tcPr anchor="ctr"/>
                </a:tc>
                <a:tc>
                  <a:txBody>
                    <a:bodyPr/>
                    <a:lstStyle/>
                    <a:p>
                      <a:pPr algn="l">
                        <a:buNone/>
                      </a:pPr>
                      <a:r>
                        <a:rPr lang="en-IN" sz="1200"/>
                        <a:t>Designs a real-time human-AI collaboration assistant for interview preparation and execution.</a:t>
                      </a:r>
                    </a:p>
                  </a:txBody>
                  <a:tcPr anchor="ctr"/>
                </a:tc>
                <a:tc>
                  <a:txBody>
                    <a:bodyPr/>
                    <a:lstStyle/>
                    <a:p>
                      <a:pPr algn="l">
                        <a:buNone/>
                      </a:pPr>
                      <a:r>
                        <a:rPr lang="en-IN" sz="1200"/>
                        <a:t>Supports live human-AI collaboration during interviews.</a:t>
                      </a:r>
                    </a:p>
                  </a:txBody>
                  <a:tcPr anchor="ctr"/>
                </a:tc>
                <a:tc>
                  <a:txBody>
                    <a:bodyPr/>
                    <a:lstStyle/>
                    <a:p>
                      <a:pPr algn="l">
                        <a:buNone/>
                      </a:pPr>
                      <a:r>
                        <a:rPr lang="en-IN" sz="1200"/>
                        <a:t>Targets interview scenarios rather than a general-purpose desktop assistant.</a:t>
                      </a:r>
                      <a:endParaRPr lang="en-IN" sz="1500" dirty="0"/>
                    </a:p>
                  </a:txBody>
                  <a:tcPr anchor="ctr"/>
                </a:tc>
                <a:extLst>
                  <a:ext uri="{0D108BD9-81ED-4DB2-BD59-A6C34878D82A}">
                    <a16:rowId xmlns:a16="http://schemas.microsoft.com/office/drawing/2014/main" val="2993204580"/>
                  </a:ext>
                </a:extLst>
              </a:tr>
              <a:tr h="1325880">
                <a:tc>
                  <a:txBody>
                    <a:bodyPr/>
                    <a:lstStyle/>
                    <a:p>
                      <a:pPr algn="l">
                        <a:buNone/>
                      </a:pPr>
                      <a:r>
                        <a:rPr lang="en-IN" sz="1200" b="1"/>
                        <a:t>An AI Mock-Interview Platform for Interview Performance Analysis (2022)</a:t>
                      </a:r>
                      <a:endParaRPr lang="en-IN" sz="1500"/>
                    </a:p>
                  </a:txBody>
                  <a:tcPr anchor="ctr"/>
                </a:tc>
                <a:tc>
                  <a:txBody>
                    <a:bodyPr/>
                    <a:lstStyle/>
                    <a:p>
                      <a:pPr algn="l">
                        <a:buNone/>
                      </a:pPr>
                      <a:r>
                        <a:rPr lang="en-IN" sz="1200"/>
                        <a:t>Y. C. Chou, International Conference on Human-Computer Interaction (HCII)</a:t>
                      </a:r>
                      <a:endParaRPr lang="en-IN" sz="1500" dirty="0"/>
                    </a:p>
                  </a:txBody>
                  <a:tcPr anchor="ctr"/>
                </a:tc>
                <a:tc>
                  <a:txBody>
                    <a:bodyPr/>
                    <a:lstStyle/>
                    <a:p>
                      <a:pPr algn="l">
                        <a:buNone/>
                      </a:pPr>
                      <a:r>
                        <a:rPr lang="en-IN" sz="1200"/>
                        <a:t>AI mock-interview platform that analyzes interview performance.</a:t>
                      </a:r>
                    </a:p>
                  </a:txBody>
                  <a:tcPr anchor="ctr"/>
                </a:tc>
                <a:tc>
                  <a:txBody>
                    <a:bodyPr/>
                    <a:lstStyle/>
                    <a:p>
                      <a:pPr algn="l">
                        <a:buNone/>
                      </a:pPr>
                      <a:r>
                        <a:rPr lang="en-IN" sz="1200"/>
                        <a:t>Provides automated performance analysis for interview practice.</a:t>
                      </a:r>
                    </a:p>
                  </a:txBody>
                  <a:tcPr anchor="ctr"/>
                </a:tc>
                <a:tc>
                  <a:txBody>
                    <a:bodyPr/>
                    <a:lstStyle/>
                    <a:p>
                      <a:pPr algn="l">
                        <a:buNone/>
                      </a:pPr>
                      <a:r>
                        <a:rPr lang="en-IN" sz="1200"/>
                        <a:t>Task-specific platform; differs in scope from a memory-augmented multi-agent desktop assistant.</a:t>
                      </a:r>
                    </a:p>
                  </a:txBody>
                  <a:tcPr anchor="ctr"/>
                </a:tc>
                <a:extLst>
                  <a:ext uri="{0D108BD9-81ED-4DB2-BD59-A6C34878D82A}">
                    <a16:rowId xmlns:a16="http://schemas.microsoft.com/office/drawing/2014/main" val="2258803807"/>
                  </a:ext>
                </a:extLst>
              </a:tr>
            </a:tbl>
          </a:graphicData>
        </a:graphic>
      </p:graphicFrame>
      <p:sp>
        <p:nvSpPr>
          <p:cNvPr id="3" name="Date Placeholder 2">
            <a:extLst>
              <a:ext uri="{FF2B5EF4-FFF2-40B4-BE49-F238E27FC236}">
                <a16:creationId xmlns:a16="http://schemas.microsoft.com/office/drawing/2014/main" id="{6E2DE4EF-897D-999D-9D4A-F2CC7890970B}"/>
              </a:ext>
            </a:extLst>
          </p:cNvPr>
          <p:cNvSpPr>
            <a:spLocks noGrp="1"/>
          </p:cNvSpPr>
          <p:nvPr>
            <p:ph type="dt" sz="half" idx="10"/>
          </p:nvPr>
        </p:nvSpPr>
        <p:spPr>
          <a:xfrm>
            <a:off x="837590" y="6355994"/>
            <a:ext cx="2743200" cy="364845"/>
          </a:xfrm>
        </p:spPr>
        <p:txBody>
          <a:bodyPr/>
          <a:lstStyle/>
          <a:p>
            <a:fld id="{675148B0-4086-444B-A722-26789A071941}" type="datetime1">
              <a:rPr lang="en-IN" smtClean="0"/>
              <a:t>25-10-2026</a:t>
            </a:fld>
            <a:endParaRPr lang="en-IN"/>
          </a:p>
        </p:txBody>
      </p:sp>
      <p:sp>
        <p:nvSpPr>
          <p:cNvPr id="4" name="Slide Number Placeholder 3">
            <a:extLst>
              <a:ext uri="{FF2B5EF4-FFF2-40B4-BE49-F238E27FC236}">
                <a16:creationId xmlns:a16="http://schemas.microsoft.com/office/drawing/2014/main" id="{5994B59F-0073-1E3F-EEC5-3959B6EC81D4}"/>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5</a:t>
            </a:fld>
            <a:endParaRPr lang="en-IN"/>
          </a:p>
        </p:txBody>
      </p:sp>
    </p:spTree>
    <p:extLst>
      <p:ext uri="{BB962C8B-B14F-4D97-AF65-F5344CB8AC3E}">
        <p14:creationId xmlns:p14="http://schemas.microsoft.com/office/powerpoint/2010/main" val="3253488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55355-C004-15AF-003F-4566047B2BE2}"/>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rPr>
              <a:t>Objective</a:t>
            </a:r>
          </a:p>
        </p:txBody>
      </p:sp>
      <p:sp>
        <p:nvSpPr>
          <p:cNvPr id="3" name="Content Placeholder 2">
            <a:extLst>
              <a:ext uri="{FF2B5EF4-FFF2-40B4-BE49-F238E27FC236}">
                <a16:creationId xmlns:a16="http://schemas.microsoft.com/office/drawing/2014/main" id="{4EF763C9-3CE9-6A3B-6862-A7F72495E6A7}"/>
              </a:ext>
            </a:extLst>
          </p:cNvPr>
          <p:cNvSpPr>
            <a:spLocks noGrp="1"/>
          </p:cNvSpPr>
          <p:nvPr>
            <p:ph idx="1"/>
          </p:nvPr>
        </p:nvSpPr>
        <p:spPr>
          <a:xfrm>
            <a:off x="837590" y="1508760"/>
            <a:ext cx="10515600" cy="4663440"/>
          </a:xfrm>
        </p:spPr>
        <p:txBody>
          <a:bodyPr wrap="square">
            <a:noAutofit/>
          </a:bodyPr>
          <a:lstStyle/>
          <a:p>
            <a:pPr lvl="0"/>
            <a:r>
              <a:rPr lang="en-IN" sz="2400" dirty="0"/>
              <a:t>To ingest and fuse six perception streams (voice, vision, text, telemetry, memory, and goals) with dynamic salience and temporal decay.</a:t>
            </a:r>
          </a:p>
          <a:p>
            <a:pPr lvl="0"/>
            <a:r>
              <a:rPr lang="en-IN" sz="2400" dirty="0"/>
              <a:t>To decouple monolithic prompts into specialized Planning, Reasoning, Memory, and Tool agents coordinated by an orchestrator.</a:t>
            </a:r>
          </a:p>
          <a:p>
            <a:pPr lvl="0"/>
            <a:r>
              <a:rPr lang="en-IN" sz="2400" dirty="0"/>
              <a:t>To develop a four-tier hybrid memory (Working, Episodic, Semantic, and Preference) with dual persistence.</a:t>
            </a:r>
          </a:p>
          <a:p>
            <a:pPr lvl="0"/>
            <a:r>
              <a:rPr lang="en-IN" sz="2400" dirty="0"/>
              <a:t>To enable adaptive personalization by continuously learning user coding conventions, shortcuts, and interaction habits without manual re-prompting.</a:t>
            </a:r>
          </a:p>
          <a:p>
            <a:pPr lvl="0"/>
            <a:r>
              <a:rPr lang="en-IN" sz="2400" dirty="0"/>
              <a:t>To enforce zero-egress privacy through 100% on-device LLM execution, regex/NER sensitive-data masking, and AST-verified safe code execution.</a:t>
            </a:r>
          </a:p>
          <a:p>
            <a:pPr lvl="0" algn="l">
              <a:spcAft>
                <a:spcPts val="1400"/>
              </a:spcAft>
            </a:pPr>
            <a:endParaRPr lang="en-IN" sz="2400" dirty="0">
              <a:latin typeface="+mn-lt"/>
            </a:endParaRPr>
          </a:p>
        </p:txBody>
      </p:sp>
      <p:sp>
        <p:nvSpPr>
          <p:cNvPr id="4" name="Date Placeholder 3">
            <a:extLst>
              <a:ext uri="{FF2B5EF4-FFF2-40B4-BE49-F238E27FC236}">
                <a16:creationId xmlns:a16="http://schemas.microsoft.com/office/drawing/2014/main" id="{F52A2636-0577-44E3-7EBB-5EE3B276AE8B}"/>
              </a:ext>
            </a:extLst>
          </p:cNvPr>
          <p:cNvSpPr>
            <a:spLocks noGrp="1"/>
          </p:cNvSpPr>
          <p:nvPr>
            <p:ph type="dt" sz="half" idx="10"/>
          </p:nvPr>
        </p:nvSpPr>
        <p:spPr>
          <a:xfrm>
            <a:off x="837590" y="6355994"/>
            <a:ext cx="2743200" cy="364845"/>
          </a:xfrm>
        </p:spPr>
        <p:txBody>
          <a:bodyPr/>
          <a:lstStyle/>
          <a:p>
            <a:fld id="{CB17FC35-FCD8-4FBB-A132-BDAA39EAB7FA}" type="datetime1">
              <a:rPr lang="en-IN" smtClean="0"/>
              <a:t>25-10-2026</a:t>
            </a:fld>
            <a:endParaRPr lang="en-IN"/>
          </a:p>
        </p:txBody>
      </p:sp>
      <p:sp>
        <p:nvSpPr>
          <p:cNvPr id="5" name="Slide Number Placeholder 4">
            <a:extLst>
              <a:ext uri="{FF2B5EF4-FFF2-40B4-BE49-F238E27FC236}">
                <a16:creationId xmlns:a16="http://schemas.microsoft.com/office/drawing/2014/main" id="{040A39E5-DDB1-4167-7E8A-D7C78854979F}"/>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6</a:t>
            </a:fld>
            <a:endParaRPr lang="en-IN"/>
          </a:p>
        </p:txBody>
      </p:sp>
    </p:spTree>
    <p:extLst>
      <p:ext uri="{BB962C8B-B14F-4D97-AF65-F5344CB8AC3E}">
        <p14:creationId xmlns:p14="http://schemas.microsoft.com/office/powerpoint/2010/main" val="281737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2C82A-9362-FEE1-0A9A-174D574576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422BB-20AC-9EFB-8A72-CF846AEE0B87}"/>
              </a:ext>
            </a:extLst>
          </p:cNvPr>
          <p:cNvSpPr>
            <a:spLocks noGrp="1"/>
          </p:cNvSpPr>
          <p:nvPr>
            <p:ph type="title"/>
          </p:nvPr>
        </p:nvSpPr>
        <p:spPr>
          <a:xfrm>
            <a:off x="837590" y="365760"/>
            <a:ext cx="10515600" cy="914400"/>
          </a:xfrm>
        </p:spPr>
        <p:txBody>
          <a:bodyPr wrap="square" anchor="ctr">
            <a:noAutofit/>
          </a:bodyPr>
          <a:lstStyle/>
          <a:p>
            <a:pPr algn="l"/>
            <a:r>
              <a:rPr sz="3600" b="0">
                <a:latin typeface="+mn-lt"/>
              </a:rPr>
              <a:t>Workflow Diagram</a:t>
            </a:r>
          </a:p>
        </p:txBody>
      </p:sp>
      <p:sp>
        <p:nvSpPr>
          <p:cNvPr id="6" name="Date Placeholder 5">
            <a:extLst>
              <a:ext uri="{FF2B5EF4-FFF2-40B4-BE49-F238E27FC236}">
                <a16:creationId xmlns:a16="http://schemas.microsoft.com/office/drawing/2014/main" id="{730FAD30-3ED3-274D-B6F3-37EC48E41F52}"/>
              </a:ext>
            </a:extLst>
          </p:cNvPr>
          <p:cNvSpPr>
            <a:spLocks noGrp="1"/>
          </p:cNvSpPr>
          <p:nvPr>
            <p:ph type="dt" sz="half" idx="10"/>
          </p:nvPr>
        </p:nvSpPr>
        <p:spPr>
          <a:xfrm>
            <a:off x="837590" y="6355994"/>
            <a:ext cx="2743200" cy="364845"/>
          </a:xfrm>
        </p:spPr>
        <p:txBody>
          <a:bodyPr/>
          <a:lstStyle/>
          <a:p>
            <a:fld id="{A9FA1B11-92D1-443B-99F4-6E0C24959B5D}" type="datetime1">
              <a:rPr lang="en-IN" smtClean="0"/>
              <a:t>25-10-2026</a:t>
            </a:fld>
            <a:endParaRPr lang="en-IN"/>
          </a:p>
        </p:txBody>
      </p:sp>
      <p:sp>
        <p:nvSpPr>
          <p:cNvPr id="7" name="Slide Number Placeholder 6">
            <a:extLst>
              <a:ext uri="{FF2B5EF4-FFF2-40B4-BE49-F238E27FC236}">
                <a16:creationId xmlns:a16="http://schemas.microsoft.com/office/drawing/2014/main" id="{BFAC8739-FBEE-6328-E7A8-19F788A74B68}"/>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7</a:t>
            </a:fld>
            <a:endParaRPr lang="en-IN"/>
          </a:p>
        </p:txBody>
      </p:sp>
      <p:sp>
        <p:nvSpPr>
          <p:cNvPr id="8" name="Rounded Rectangle 7"/>
          <p:cNvSpPr/>
          <p:nvPr/>
        </p:nvSpPr>
        <p:spPr>
          <a:xfrm>
            <a:off x="837590" y="1417320"/>
            <a:ext cx="2354580" cy="1143000"/>
          </a:xfrm>
          <a:prstGeom prst="roundRect">
            <a:avLst>
              <a:gd name="adj" fmla="val 8000"/>
            </a:avLst>
          </a:prstGeom>
          <a:solidFill>
            <a:schemeClr val="accent1">
              <a:lumMod val="20000"/>
              <a:lumOff val="8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chemeClr val="accent1">
                    <a:lumMod val="75000"/>
                  </a:schemeClr>
                </a:solidFill>
              </a:rPr>
              <a:t>1. User Interface</a:t>
            </a:r>
          </a:p>
          <a:p>
            <a:pPr algn="ctr"/>
            <a:r>
              <a:rPr sz="1400">
                <a:solidFill>
                  <a:schemeClr val="tx1"/>
                </a:solidFill>
              </a:rPr>
              <a:t>Voice, text, screen, files, and GUI</a:t>
            </a:r>
          </a:p>
        </p:txBody>
      </p:sp>
      <p:sp>
        <p:nvSpPr>
          <p:cNvPr id="9" name="Rounded Rectangle 8"/>
          <p:cNvSpPr/>
          <p:nvPr/>
        </p:nvSpPr>
        <p:spPr>
          <a:xfrm>
            <a:off x="3557930" y="1417320"/>
            <a:ext cx="2354580" cy="1143000"/>
          </a:xfrm>
          <a:prstGeom prst="roundRect">
            <a:avLst>
              <a:gd name="adj" fmla="val 8000"/>
            </a:avLst>
          </a:prstGeom>
          <a:solidFill>
            <a:schemeClr val="accent1">
              <a:lumMod val="20000"/>
              <a:lumOff val="8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chemeClr val="accent1">
                    <a:lumMod val="75000"/>
                  </a:schemeClr>
                </a:solidFill>
              </a:rPr>
              <a:t>2. Input &amp; Privacy</a:t>
            </a:r>
          </a:p>
          <a:p>
            <a:pPr algn="ctr"/>
            <a:r>
              <a:rPr sz="1400">
                <a:solidFill>
                  <a:schemeClr val="tx1"/>
                </a:solidFill>
              </a:rPr>
              <a:t>Whisper STT and sensitive-data NER filter</a:t>
            </a:r>
          </a:p>
        </p:txBody>
      </p:sp>
      <p:sp>
        <p:nvSpPr>
          <p:cNvPr id="10" name="Rounded Rectangle 9"/>
          <p:cNvSpPr/>
          <p:nvPr/>
        </p:nvSpPr>
        <p:spPr>
          <a:xfrm>
            <a:off x="6278270" y="1417320"/>
            <a:ext cx="2354580" cy="1143000"/>
          </a:xfrm>
          <a:prstGeom prst="roundRect">
            <a:avLst>
              <a:gd name="adj" fmla="val 8000"/>
            </a:avLst>
          </a:prstGeom>
          <a:solidFill>
            <a:schemeClr val="accent1">
              <a:lumMod val="20000"/>
              <a:lumOff val="8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chemeClr val="accent1">
                    <a:lumMod val="75000"/>
                  </a:schemeClr>
                </a:solidFill>
              </a:rPr>
              <a:t>3. Agent Orchestrator</a:t>
            </a:r>
          </a:p>
          <a:p>
            <a:pPr algn="ctr"/>
            <a:r>
              <a:rPr sz="1400">
                <a:solidFill>
                  <a:schemeClr val="tx1"/>
                </a:solidFill>
              </a:rPr>
              <a:t>Intent routing and task-graph breakdown</a:t>
            </a:r>
          </a:p>
        </p:txBody>
      </p:sp>
      <p:sp>
        <p:nvSpPr>
          <p:cNvPr id="11" name="Rounded Rectangle 10"/>
          <p:cNvSpPr/>
          <p:nvPr/>
        </p:nvSpPr>
        <p:spPr>
          <a:xfrm>
            <a:off x="8998610" y="1417320"/>
            <a:ext cx="2354580" cy="1143000"/>
          </a:xfrm>
          <a:prstGeom prst="roundRect">
            <a:avLst>
              <a:gd name="adj" fmla="val 8000"/>
            </a:avLst>
          </a:prstGeom>
          <a:solidFill>
            <a:schemeClr val="accent1">
              <a:lumMod val="20000"/>
              <a:lumOff val="8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chemeClr val="accent1">
                    <a:lumMod val="75000"/>
                  </a:schemeClr>
                </a:solidFill>
              </a:rPr>
              <a:t>4. Memory &amp; RAG</a:t>
            </a:r>
          </a:p>
          <a:p>
            <a:pPr algn="ctr"/>
            <a:r>
              <a:rPr sz="1400">
                <a:solidFill>
                  <a:schemeClr val="tx1"/>
                </a:solidFill>
              </a:rPr>
              <a:t>Working, episodic, semantic, and preference tiers</a:t>
            </a:r>
          </a:p>
        </p:txBody>
      </p:sp>
      <p:sp>
        <p:nvSpPr>
          <p:cNvPr id="12" name="Rounded Rectangle 11"/>
          <p:cNvSpPr/>
          <p:nvPr/>
        </p:nvSpPr>
        <p:spPr>
          <a:xfrm>
            <a:off x="8998610" y="2971800"/>
            <a:ext cx="2354580" cy="1143000"/>
          </a:xfrm>
          <a:prstGeom prst="roundRect">
            <a:avLst>
              <a:gd name="adj" fmla="val 8000"/>
            </a:avLst>
          </a:prstGeom>
          <a:solidFill>
            <a:schemeClr val="accent1">
              <a:lumMod val="20000"/>
              <a:lumOff val="8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chemeClr val="accent1">
                    <a:lumMod val="75000"/>
                  </a:schemeClr>
                </a:solidFill>
              </a:rPr>
              <a:t>5. Local AI Engine</a:t>
            </a:r>
          </a:p>
          <a:p>
            <a:pPr algn="ctr"/>
            <a:r>
              <a:rPr sz="1400">
                <a:solidFill>
                  <a:schemeClr val="tx1"/>
                </a:solidFill>
              </a:rPr>
              <a:t>Quantized LLM and dense embeddings</a:t>
            </a:r>
          </a:p>
        </p:txBody>
      </p:sp>
      <p:sp>
        <p:nvSpPr>
          <p:cNvPr id="13" name="Rounded Rectangle 12"/>
          <p:cNvSpPr/>
          <p:nvPr/>
        </p:nvSpPr>
        <p:spPr>
          <a:xfrm>
            <a:off x="6278270" y="2971800"/>
            <a:ext cx="2354580" cy="1143000"/>
          </a:xfrm>
          <a:prstGeom prst="roundRect">
            <a:avLst>
              <a:gd name="adj" fmla="val 8000"/>
            </a:avLst>
          </a:prstGeom>
          <a:solidFill>
            <a:schemeClr val="accent1">
              <a:lumMod val="20000"/>
              <a:lumOff val="8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chemeClr val="accent1">
                    <a:lumMod val="75000"/>
                  </a:schemeClr>
                </a:solidFill>
              </a:rPr>
              <a:t>6. Tool Execution</a:t>
            </a:r>
          </a:p>
          <a:p>
            <a:pPr algn="ctr"/>
            <a:r>
              <a:rPr sz="1400">
                <a:solidFill>
                  <a:schemeClr val="tx1"/>
                </a:solidFill>
              </a:rPr>
              <a:t>Win32 API, PyAutoGUI, and file system</a:t>
            </a:r>
          </a:p>
        </p:txBody>
      </p:sp>
      <p:sp>
        <p:nvSpPr>
          <p:cNvPr id="14" name="Rounded Rectangle 13"/>
          <p:cNvSpPr/>
          <p:nvPr/>
        </p:nvSpPr>
        <p:spPr>
          <a:xfrm>
            <a:off x="3557930" y="2971800"/>
            <a:ext cx="2354580" cy="1143000"/>
          </a:xfrm>
          <a:prstGeom prst="roundRect">
            <a:avLst>
              <a:gd name="adj" fmla="val 8000"/>
            </a:avLst>
          </a:prstGeom>
          <a:solidFill>
            <a:schemeClr val="accent1">
              <a:lumMod val="20000"/>
              <a:lumOff val="8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chemeClr val="accent1">
                    <a:lumMod val="75000"/>
                  </a:schemeClr>
                </a:solidFill>
              </a:rPr>
              <a:t>7. Action Validation</a:t>
            </a:r>
          </a:p>
          <a:p>
            <a:pPr algn="ctr"/>
            <a:r>
              <a:rPr sz="1400">
                <a:solidFill>
                  <a:schemeClr val="tx1"/>
                </a:solidFill>
              </a:rPr>
              <a:t>Permission checks and AST compilation</a:t>
            </a:r>
          </a:p>
        </p:txBody>
      </p:sp>
      <p:sp>
        <p:nvSpPr>
          <p:cNvPr id="15" name="Rounded Rectangle 14"/>
          <p:cNvSpPr/>
          <p:nvPr/>
        </p:nvSpPr>
        <p:spPr>
          <a:xfrm>
            <a:off x="837590" y="2971800"/>
            <a:ext cx="2354580" cy="1143000"/>
          </a:xfrm>
          <a:prstGeom prst="roundRect">
            <a:avLst>
              <a:gd name="adj" fmla="val 8000"/>
            </a:avLst>
          </a:prstGeom>
          <a:solidFill>
            <a:schemeClr val="accent1">
              <a:lumMod val="20000"/>
              <a:lumOff val="80000"/>
            </a:schemeClr>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chemeClr val="accent1">
                    <a:lumMod val="75000"/>
                  </a:schemeClr>
                </a:solidFill>
              </a:rPr>
              <a:t>8. Response Delivery</a:t>
            </a:r>
          </a:p>
          <a:p>
            <a:pPr algn="ctr"/>
            <a:r>
              <a:rPr sz="1400">
                <a:solidFill>
                  <a:schemeClr val="tx1"/>
                </a:solidFill>
              </a:rPr>
              <a:t>Instant speech and streaming GUI cards</a:t>
            </a:r>
          </a:p>
        </p:txBody>
      </p:sp>
      <p:sp>
        <p:nvSpPr>
          <p:cNvPr id="16" name="Right Arrow 15"/>
          <p:cNvSpPr/>
          <p:nvPr/>
        </p:nvSpPr>
        <p:spPr>
          <a:xfrm>
            <a:off x="3228746" y="1842516"/>
            <a:ext cx="292608" cy="29260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5949086" y="1842516"/>
            <a:ext cx="292608" cy="29260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669426" y="1842516"/>
            <a:ext cx="292608" cy="292608"/>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eft Arrow 18"/>
          <p:cNvSpPr/>
          <p:nvPr/>
        </p:nvSpPr>
        <p:spPr>
          <a:xfrm>
            <a:off x="8669426" y="3396996"/>
            <a:ext cx="292608" cy="292608"/>
          </a:xfrm>
          <a:prstGeom prst="lef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eft Arrow 19"/>
          <p:cNvSpPr/>
          <p:nvPr/>
        </p:nvSpPr>
        <p:spPr>
          <a:xfrm>
            <a:off x="5949086" y="3396996"/>
            <a:ext cx="292608" cy="292608"/>
          </a:xfrm>
          <a:prstGeom prst="lef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ft Arrow 20"/>
          <p:cNvSpPr/>
          <p:nvPr/>
        </p:nvSpPr>
        <p:spPr>
          <a:xfrm>
            <a:off x="3228746" y="3396996"/>
            <a:ext cx="292608" cy="292608"/>
          </a:xfrm>
          <a:prstGeom prst="lef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10029596" y="2619756"/>
            <a:ext cx="292608" cy="292608"/>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7590" y="4343400"/>
            <a:ext cx="5074920" cy="1325880"/>
          </a:xfrm>
          <a:prstGeom prst="roundRect">
            <a:avLst>
              <a:gd name="adj" fmla="val 6000"/>
            </a:avLst>
          </a:prstGeom>
          <a:solidFill>
            <a:schemeClr val="bg2">
              <a:lumMod val="60000"/>
              <a:lumOff val="40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chemeClr val="accent1">
                    <a:lumMod val="75000"/>
                  </a:schemeClr>
                </a:solidFill>
              </a:rPr>
              <a:t>Cross-Cutting: Privacy &amp; Security</a:t>
            </a:r>
          </a:p>
          <a:p>
            <a:pPr algn="l" marL="228600" indent="-228600">
              <a:buFont typeface="Arial"/>
              <a:buChar char="•"/>
            </a:pPr>
            <a:r>
              <a:rPr sz="1400">
                <a:solidFill>
                  <a:schemeClr val="tx1"/>
                </a:solidFill>
              </a:rPr>
              <a:t>100% on-device execution, zero cloud egress</a:t>
            </a:r>
          </a:p>
          <a:p>
            <a:pPr algn="l" marL="228600" indent="-228600">
              <a:buFont typeface="Arial"/>
              <a:buChar char="•"/>
            </a:pPr>
            <a:r>
              <a:rPr sz="1400">
                <a:solidFill>
                  <a:schemeClr val="tx1"/>
                </a:solidFill>
              </a:rPr>
              <a:t>Regex and NER filters scrub credentials</a:t>
            </a:r>
          </a:p>
          <a:p>
            <a:pPr algn="l" marL="228600" indent="-228600">
              <a:buFont typeface="Arial"/>
              <a:buChar char="•"/>
            </a:pPr>
            <a:r>
              <a:rPr sz="1400">
                <a:solidFill>
                  <a:schemeClr val="tx1"/>
                </a:solidFill>
              </a:rPr>
              <a:t>Append-only cryptographic audit log</a:t>
            </a:r>
          </a:p>
        </p:txBody>
      </p:sp>
      <p:sp>
        <p:nvSpPr>
          <p:cNvPr id="24" name="Rounded Rectangle 23"/>
          <p:cNvSpPr/>
          <p:nvPr/>
        </p:nvSpPr>
        <p:spPr>
          <a:xfrm>
            <a:off x="6278270" y="4343400"/>
            <a:ext cx="5074920" cy="1325880"/>
          </a:xfrm>
          <a:prstGeom prst="roundRect">
            <a:avLst>
              <a:gd name="adj" fmla="val 6000"/>
            </a:avLst>
          </a:prstGeom>
          <a:solidFill>
            <a:schemeClr val="bg2">
              <a:lumMod val="60000"/>
              <a:lumOff val="40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chemeClr val="accent1">
                    <a:lumMod val="75000"/>
                  </a:schemeClr>
                </a:solidFill>
              </a:rPr>
              <a:t>Cross-Cutting: Explainability &amp; Monitoring</a:t>
            </a:r>
          </a:p>
          <a:p>
            <a:pPr algn="l" marL="228600" indent="-228600">
              <a:buFont typeface="Arial"/>
              <a:buChar char="•"/>
            </a:pPr>
            <a:r>
              <a:rPr sz="1400">
                <a:solidFill>
                  <a:schemeClr val="tx1"/>
                </a:solidFill>
              </a:rPr>
              <a:t>Live agent telemetry of planning and tool states</a:t>
            </a:r>
          </a:p>
          <a:p>
            <a:pPr algn="l" marL="228600" indent="-228600">
              <a:buFont typeface="Arial"/>
              <a:buChar char="•"/>
            </a:pPr>
            <a:r>
              <a:rPr sz="1400">
                <a:solidFill>
                  <a:schemeClr val="tx1"/>
                </a:solidFill>
              </a:rPr>
              <a:t>Memory token accounting across tiers</a:t>
            </a:r>
          </a:p>
          <a:p>
            <a:pPr algn="l" marL="228600" indent="-228600">
              <a:buFont typeface="Arial"/>
              <a:buChar char="•"/>
            </a:pPr>
            <a:r>
              <a:rPr sz="1400">
                <a:solidFill>
                  <a:schemeClr val="tx1"/>
                </a:solidFill>
              </a:rPr>
              <a:t>Decision-tree tracing of reasoning</a:t>
            </a:r>
          </a:p>
        </p:txBody>
      </p:sp>
    </p:spTree>
    <p:extLst>
      <p:ext uri="{BB962C8B-B14F-4D97-AF65-F5344CB8AC3E}">
        <p14:creationId xmlns:p14="http://schemas.microsoft.com/office/powerpoint/2010/main" val="759847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2B17B-8EB4-0936-CFD6-FDD313F15105}"/>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rPr>
              <a:t>Methodology</a:t>
            </a:r>
          </a:p>
        </p:txBody>
      </p:sp>
      <p:sp>
        <p:nvSpPr>
          <p:cNvPr id="3" name="Content Placeholder 2">
            <a:extLst>
              <a:ext uri="{FF2B5EF4-FFF2-40B4-BE49-F238E27FC236}">
                <a16:creationId xmlns:a16="http://schemas.microsoft.com/office/drawing/2014/main" id="{80D8856E-E5D1-1B65-6D25-58FB3F5507FD}"/>
              </a:ext>
            </a:extLst>
          </p:cNvPr>
          <p:cNvSpPr>
            <a:spLocks noGrp="1"/>
          </p:cNvSpPr>
          <p:nvPr>
            <p:ph idx="1"/>
          </p:nvPr>
        </p:nvSpPr>
        <p:spPr>
          <a:xfrm>
            <a:off x="837590" y="1508760"/>
            <a:ext cx="10515600" cy="4663440"/>
          </a:xfrm>
        </p:spPr>
        <p:txBody>
          <a:bodyPr wrap="square">
            <a:noAutofit/>
          </a:bodyPr>
          <a:lstStyle/>
          <a:p>
            <a:pPr marL="457200" lvl="0" indent="-457200">
              <a:buFont typeface="+mj-lt"/>
              <a:buAutoNum type="arabicPeriod"/>
            </a:pPr>
            <a:r>
              <a:rPr lang="en-IN" sz="2400" b="1" dirty="0"/>
              <a:t>Multimodal Input &amp; Privacy Filtering:</a:t>
            </a:r>
            <a:r>
              <a:rPr lang="en-IN" sz="2400" dirty="0"/>
              <a:t xml:space="preserve"> Capture voice through the wake-word “Hey Nexus”, screen frames with OCR, and CPU/RAM telemetry. Transcribe speech locally with Whisper STT and redact API keys, credentials, and PII using regex and NER filters before any agent reasoning.</a:t>
            </a:r>
          </a:p>
          <a:p>
            <a:pPr marL="457200" lvl="0" indent="-457200">
              <a:buFont typeface="+mj-lt"/>
              <a:buAutoNum type="arabicPeriod"/>
            </a:pPr>
            <a:r>
              <a:rPr lang="en-IN" sz="2400" b="1" dirty="0"/>
              <a:t>Agent Orchestration &amp; Planning:</a:t>
            </a:r>
            <a:r>
              <a:rPr lang="en-IN" sz="2400" dirty="0"/>
              <a:t xml:space="preserve"> The orchestrator validates environment state and decomposes each goal into a task DAG. Planning, Reasoning, Memory, and Tool agents coordinate through an asynchronous event bus with token-budget routing and error-reflection loops.</a:t>
            </a:r>
          </a:p>
          <a:p>
            <a:pPr marL="457200" lvl="0" indent="-457200">
              <a:buFont typeface="+mj-lt"/>
              <a:buAutoNum type="arabicPeriod"/>
            </a:pPr>
            <a:r>
              <a:rPr lang="en-IN" sz="2400" b="1" dirty="0"/>
              <a:t>Hybrid Memory &amp; RAG Retrieval:</a:t>
            </a:r>
            <a:r>
              <a:rPr lang="en-IN" sz="2400" dirty="0"/>
              <a:t xml:space="preserve"> Query the four memory tiers using dense FAISS embeddings and sparse BM25 search. Rank results with a relevance score that blends semantic similarity, lexical overlap, temporal decay, and importance, then inject grounded context with source citations.</a:t>
            </a:r>
          </a:p>
          <a:p>
            <a:pPr marL="0" lvl="0" indent="0" algn="l">
              <a:spcAft>
                <a:spcPts val="400"/>
              </a:spcAft>
              <a:buNone/>
            </a:pPr>
            <a:endParaRPr lang="en-IN" sz="2400" dirty="0">
              <a:latin typeface="+mn-lt"/>
            </a:endParaRPr>
          </a:p>
        </p:txBody>
      </p:sp>
      <p:sp>
        <p:nvSpPr>
          <p:cNvPr id="4" name="Date Placeholder 3">
            <a:extLst>
              <a:ext uri="{FF2B5EF4-FFF2-40B4-BE49-F238E27FC236}">
                <a16:creationId xmlns:a16="http://schemas.microsoft.com/office/drawing/2014/main" id="{E44FA5B1-580D-E7E5-C4CB-A9A20973779B}"/>
              </a:ext>
            </a:extLst>
          </p:cNvPr>
          <p:cNvSpPr>
            <a:spLocks noGrp="1"/>
          </p:cNvSpPr>
          <p:nvPr>
            <p:ph type="dt" sz="half" idx="10"/>
          </p:nvPr>
        </p:nvSpPr>
        <p:spPr>
          <a:xfrm>
            <a:off x="837590" y="6355994"/>
            <a:ext cx="2743200" cy="364845"/>
          </a:xfrm>
        </p:spPr>
        <p:txBody>
          <a:bodyPr/>
          <a:lstStyle/>
          <a:p>
            <a:fld id="{CB85E715-FBBD-45DF-91FB-5CC46E2C08C1}" type="datetime1">
              <a:rPr lang="en-IN" smtClean="0"/>
              <a:t>25-10-2026</a:t>
            </a:fld>
            <a:endParaRPr lang="en-IN"/>
          </a:p>
        </p:txBody>
      </p:sp>
      <p:sp>
        <p:nvSpPr>
          <p:cNvPr id="5" name="Slide Number Placeholder 4">
            <a:extLst>
              <a:ext uri="{FF2B5EF4-FFF2-40B4-BE49-F238E27FC236}">
                <a16:creationId xmlns:a16="http://schemas.microsoft.com/office/drawing/2014/main" id="{0E3FD557-217B-E91D-B679-487CC2D4B5E5}"/>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8</a:t>
            </a:fld>
            <a:endParaRPr lang="en-IN"/>
          </a:p>
        </p:txBody>
      </p:sp>
    </p:spTree>
    <p:extLst>
      <p:ext uri="{BB962C8B-B14F-4D97-AF65-F5344CB8AC3E}">
        <p14:creationId xmlns:p14="http://schemas.microsoft.com/office/powerpoint/2010/main" val="1345835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AF38E-7083-44C0-399F-C9203B47E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2B17B-8EB4-0936-CFD6-FDD313F15105}"/>
              </a:ext>
            </a:extLst>
          </p:cNvPr>
          <p:cNvSpPr>
            <a:spLocks noGrp="1"/>
          </p:cNvSpPr>
          <p:nvPr>
            <p:ph type="title"/>
          </p:nvPr>
        </p:nvSpPr>
        <p:spPr>
          <a:xfrm>
            <a:off x="837590" y="365760"/>
            <a:ext cx="10515600" cy="914400"/>
          </a:xfrm>
        </p:spPr>
        <p:txBody>
          <a:bodyPr wrap="square" anchor="ctr">
            <a:noAutofit/>
          </a:bodyPr>
          <a:lstStyle/>
          <a:p>
            <a:pPr algn="l"/>
            <a:r>
              <a:rPr sz="3600" b="0">
                <a:latin typeface="+mn-lt"/>
              </a:rPr>
              <a:t>Methodology </a:t>
            </a:r>
          </a:p>
        </p:txBody>
      </p:sp>
      <p:sp>
        <p:nvSpPr>
          <p:cNvPr id="3" name="Content Placeholder 2">
            <a:extLst>
              <a:ext uri="{FF2B5EF4-FFF2-40B4-BE49-F238E27FC236}">
                <a16:creationId xmlns:a16="http://schemas.microsoft.com/office/drawing/2014/main" id="{C3A5FF49-5D6B-4DB0-9663-56C896D341B1}"/>
              </a:ext>
            </a:extLst>
          </p:cNvPr>
          <p:cNvSpPr>
            <a:spLocks noGrp="1"/>
          </p:cNvSpPr>
          <p:nvPr>
            <p:ph idx="1"/>
          </p:nvPr>
        </p:nvSpPr>
        <p:spPr>
          <a:xfrm>
            <a:off x="837590" y="1508760"/>
            <a:ext cx="10515600" cy="4663440"/>
          </a:xfrm>
        </p:spPr>
        <p:txBody>
          <a:bodyPr vert="horz" wrap="square" lIns="91440" tIns="45720" rIns="91440" bIns="45720" rtlCol="0" anchor="t">
            <a:noAutofit/>
          </a:bodyPr>
          <a:lstStyle/>
          <a:p>
            <a:pPr marL="457200" lvl="0" indent="-457200">
              <a:buFont typeface="+mj-lt"/>
              <a:buAutoNum type="arabicPeriod" startAt="4"/>
            </a:pPr>
            <a:r>
              <a:rPr lang="en-IN" sz="2400" b="1" dirty="0"/>
              <a:t>Local AI Inference:</a:t>
            </a:r>
            <a:r>
              <a:rPr lang="en-IN" sz="2400" dirty="0"/>
              <a:t xml:space="preserve"> Run quantized LLaMA 3 (8B) and Mistral 7B Instruct through the Ollama runtime on-device, with 384-dimensional Sentence-Transformers embeddings, so that no audio or screen data leaves the machine.</a:t>
            </a:r>
          </a:p>
          <a:p>
            <a:pPr marL="457200" lvl="0" indent="-457200">
              <a:buFont typeface="+mj-lt"/>
              <a:buAutoNum type="arabicPeriod" startAt="4"/>
            </a:pPr>
            <a:r>
              <a:rPr lang="en-IN" sz="2400" b="1" dirty="0"/>
              <a:t>Tool Execution &amp; Desktop Control:</a:t>
            </a:r>
            <a:r>
              <a:rPr lang="en-IN" sz="2400" dirty="0"/>
              <a:t xml:space="preserve"> Map sub-tasks to Win32 API, PyAutoGUI, atomic file I/O, and Playwright web tools through non-blocking worker threads, restricting writes to the active workspace with directory whitelists.</a:t>
            </a:r>
          </a:p>
          <a:p>
            <a:pPr marL="457200" lvl="0" indent="-457200">
              <a:buFont typeface="+mj-lt"/>
              <a:buAutoNum type="arabicPeriod" startAt="4"/>
            </a:pPr>
            <a:r>
              <a:rPr lang="en-IN" sz="2400" b="1" dirty="0"/>
              <a:t>Action Validation &amp; Response Delivery:</a:t>
            </a:r>
            <a:r>
              <a:rPr lang="en-IN" sz="2400" dirty="0"/>
              <a:t xml:space="preserve"> Scan code with the Python AST module to block dangerous calls such as eval and exec, request human confirmation before destructive operations, and roll back on failure. Deliver results as instant speech and streaming GUI cards.</a:t>
            </a:r>
          </a:p>
          <a:p>
            <a:pPr marL="0" indent="0" algn="l">
              <a:spcAft>
                <a:spcPts val="400"/>
              </a:spcAft>
              <a:buNone/>
            </a:pPr>
            <a:endParaRPr lang="en-IN" dirty="0"/>
          </a:p>
        </p:txBody>
      </p:sp>
      <p:sp>
        <p:nvSpPr>
          <p:cNvPr id="4" name="Date Placeholder 3">
            <a:extLst>
              <a:ext uri="{FF2B5EF4-FFF2-40B4-BE49-F238E27FC236}">
                <a16:creationId xmlns:a16="http://schemas.microsoft.com/office/drawing/2014/main" id="{48369111-9E24-7D9D-DFE3-3E75F5C1A240}"/>
              </a:ext>
            </a:extLst>
          </p:cNvPr>
          <p:cNvSpPr>
            <a:spLocks noGrp="1"/>
          </p:cNvSpPr>
          <p:nvPr>
            <p:ph type="dt" sz="half" idx="10"/>
          </p:nvPr>
        </p:nvSpPr>
        <p:spPr>
          <a:xfrm>
            <a:off x="837590" y="6355994"/>
            <a:ext cx="2743200" cy="364845"/>
          </a:xfrm>
        </p:spPr>
        <p:txBody>
          <a:bodyPr/>
          <a:lstStyle/>
          <a:p>
            <a:fld id="{CB85E715-FBBD-45DF-91FB-5CC46E2C08C1}" type="datetime1">
              <a:rPr lang="en-IN" smtClean="0"/>
              <a:t>25-10-2026</a:t>
            </a:fld>
            <a:endParaRPr lang="en-IN"/>
          </a:p>
        </p:txBody>
      </p:sp>
      <p:sp>
        <p:nvSpPr>
          <p:cNvPr id="5" name="Slide Number Placeholder 4">
            <a:extLst>
              <a:ext uri="{FF2B5EF4-FFF2-40B4-BE49-F238E27FC236}">
                <a16:creationId xmlns:a16="http://schemas.microsoft.com/office/drawing/2014/main" id="{C64C7600-7231-C012-B3E8-CD5F5AEFF7F6}"/>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9</a:t>
            </a:fld>
            <a:endParaRPr lang="en-IN"/>
          </a:p>
        </p:txBody>
      </p:sp>
    </p:spTree>
    <p:extLst>
      <p:ext uri="{BB962C8B-B14F-4D97-AF65-F5344CB8AC3E}">
        <p14:creationId xmlns:p14="http://schemas.microsoft.com/office/powerpoint/2010/main" val="2777103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2EDE4-41F2-0DB2-11CA-1AF756932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35EB6-DA44-574F-9005-B0A65517BA3B}"/>
              </a:ext>
            </a:extLst>
          </p:cNvPr>
          <p:cNvSpPr>
            <a:spLocks noGrp="1"/>
          </p:cNvSpPr>
          <p:nvPr>
            <p:ph type="title"/>
          </p:nvPr>
        </p:nvSpPr>
        <p:spPr>
          <a:xfrm>
            <a:off x="837590" y="365760"/>
            <a:ext cx="10515600" cy="914400"/>
          </a:xfrm>
        </p:spPr>
        <p:txBody>
          <a:bodyPr wrap="square" anchor="ctr">
            <a:noAutofit/>
          </a:bodyPr>
          <a:lstStyle/>
          <a:p>
            <a:pPr algn="l"/>
            <a:r>
              <a:rPr sz="3600" b="0">
                <a:latin typeface="+mn-lt"/>
              </a:rPr>
              <a:t>Tools</a:t>
            </a:r>
          </a:p>
        </p:txBody>
      </p:sp>
      <p:sp>
        <p:nvSpPr>
          <p:cNvPr id="3" name="Content Placeholder 2">
            <a:extLst>
              <a:ext uri="{FF2B5EF4-FFF2-40B4-BE49-F238E27FC236}">
                <a16:creationId xmlns:a16="http://schemas.microsoft.com/office/drawing/2014/main" id="{804EBA0A-4032-DF5E-1530-C2CCA71A0011}"/>
              </a:ext>
            </a:extLst>
          </p:cNvPr>
          <p:cNvSpPr>
            <a:spLocks noGrp="1"/>
          </p:cNvSpPr>
          <p:nvPr>
            <p:ph idx="1"/>
          </p:nvPr>
        </p:nvSpPr>
        <p:spPr>
          <a:xfrm>
            <a:off x="837590" y="1508760"/>
            <a:ext cx="10515600" cy="4663440"/>
          </a:xfrm>
        </p:spPr>
        <p:txBody>
          <a:bodyPr wrap="square">
            <a:noAutofit/>
          </a:bodyPr>
          <a:lstStyle/>
          <a:p>
            <a:pPr lvl="0"/>
            <a:r>
              <a:rPr lang="en-IN" sz="2400" b="1" dirty="0"/>
              <a:t>Speech &amp; Audio:</a:t>
            </a:r>
            <a:r>
              <a:rPr lang="en-IN" sz="2400" dirty="0"/>
              <a:t xml:space="preserve"> OpenAI Whisper, PyAudio, SoundDevice</a:t>
            </a:r>
          </a:p>
          <a:p>
            <a:pPr lvl="0"/>
            <a:r>
              <a:rPr lang="en-IN" sz="2400" b="1" dirty="0"/>
              <a:t>Vision &amp; OCR:</a:t>
            </a:r>
            <a:r>
              <a:rPr lang="en-IN" sz="2400" dirty="0"/>
              <a:t xml:space="preserve"> OpenCV, Tesseract</a:t>
            </a:r>
          </a:p>
          <a:p>
            <a:pPr lvl="0"/>
            <a:r>
              <a:rPr lang="en-IN" sz="2400" b="1" dirty="0"/>
              <a:t>Local LLM:</a:t>
            </a:r>
            <a:r>
              <a:rPr lang="en-IN" sz="2400" dirty="0"/>
              <a:t xml:space="preserve"> Ollama, LLaMA 3 (8B), Mistral 7B Instruct</a:t>
            </a:r>
          </a:p>
          <a:p>
            <a:pPr lvl="0"/>
            <a:r>
              <a:rPr lang="en-IN" sz="2400" b="1" dirty="0"/>
              <a:t>Embeddings &amp; Search:</a:t>
            </a:r>
            <a:r>
              <a:rPr lang="en-IN" sz="2400" dirty="0"/>
              <a:t xml:space="preserve"> Sentence-Transformers, FAISS, BM25 Okapi</a:t>
            </a:r>
          </a:p>
          <a:p>
            <a:pPr lvl="0"/>
            <a:r>
              <a:rPr lang="en-IN" sz="2400" b="1" dirty="0"/>
              <a:t>Storage:</a:t>
            </a:r>
            <a:r>
              <a:rPr lang="en-IN" sz="2400" dirty="0"/>
              <a:t xml:space="preserve"> ChromaDB, SQLite3</a:t>
            </a:r>
          </a:p>
          <a:p>
            <a:pPr lvl="0"/>
            <a:r>
              <a:rPr lang="en-IN" sz="2400" b="1" dirty="0"/>
              <a:t>Desktop GUI:</a:t>
            </a:r>
            <a:r>
              <a:rPr lang="en-IN" sz="2400" dirty="0"/>
              <a:t xml:space="preserve"> PyQt6 (60 FPS AI Orb)</a:t>
            </a:r>
          </a:p>
          <a:p>
            <a:pPr lvl="0"/>
            <a:r>
              <a:rPr lang="en-IN" sz="2400" b="1" dirty="0"/>
              <a:t>OS Integration:</a:t>
            </a:r>
            <a:r>
              <a:rPr lang="en-IN" sz="2400" dirty="0"/>
              <a:t xml:space="preserve"> Windows Win32 API, PyAutoGUI</a:t>
            </a:r>
          </a:p>
          <a:p>
            <a:pPr lvl="0"/>
            <a:r>
              <a:rPr lang="en-IN" sz="2400" b="1" dirty="0"/>
              <a:t>Code Safety:</a:t>
            </a:r>
            <a:r>
              <a:rPr lang="en-IN" sz="2400" dirty="0"/>
              <a:t xml:space="preserve"> Python AST Module, Subprocess Sandbox</a:t>
            </a:r>
          </a:p>
          <a:p>
            <a:pPr lvl="0"/>
            <a:r>
              <a:rPr lang="en-IN" sz="2400" b="1" dirty="0"/>
              <a:t>Concurrency &amp; Web:</a:t>
            </a:r>
            <a:r>
              <a:rPr lang="en-IN" sz="2400" dirty="0"/>
              <a:t xml:space="preserve"> Asyncio / Threading, Playwright</a:t>
            </a:r>
          </a:p>
          <a:p>
            <a:pPr marL="0" indent="0" algn="l">
              <a:spcAft>
                <a:spcPts val="1400"/>
              </a:spcAft>
              <a:buNone/>
            </a:pPr>
            <a:endParaRPr lang="en-IN" dirty="0"/>
          </a:p>
        </p:txBody>
      </p:sp>
      <p:sp>
        <p:nvSpPr>
          <p:cNvPr id="4" name="Date Placeholder 3">
            <a:extLst>
              <a:ext uri="{FF2B5EF4-FFF2-40B4-BE49-F238E27FC236}">
                <a16:creationId xmlns:a16="http://schemas.microsoft.com/office/drawing/2014/main" id="{257925F4-02D6-B891-EE99-706D22E37FA8}"/>
              </a:ext>
            </a:extLst>
          </p:cNvPr>
          <p:cNvSpPr>
            <a:spLocks noGrp="1"/>
          </p:cNvSpPr>
          <p:nvPr>
            <p:ph type="dt" sz="half" idx="10"/>
          </p:nvPr>
        </p:nvSpPr>
        <p:spPr>
          <a:xfrm>
            <a:off x="837590" y="6355994"/>
            <a:ext cx="2743200" cy="364845"/>
          </a:xfrm>
        </p:spPr>
        <p:txBody>
          <a:bodyPr/>
          <a:lstStyle/>
          <a:p>
            <a:fld id="{CB85E715-FBBD-45DF-91FB-5CC46E2C08C1}" type="datetime1">
              <a:rPr lang="en-IN" smtClean="0"/>
              <a:t>25-10-2026</a:t>
            </a:fld>
            <a:endParaRPr lang="en-IN" dirty="0"/>
          </a:p>
        </p:txBody>
      </p:sp>
      <p:sp>
        <p:nvSpPr>
          <p:cNvPr id="5" name="Slide Number Placeholder 4">
            <a:extLst>
              <a:ext uri="{FF2B5EF4-FFF2-40B4-BE49-F238E27FC236}">
                <a16:creationId xmlns:a16="http://schemas.microsoft.com/office/drawing/2014/main" id="{3424C399-5C54-C6E3-CD96-05AD45B2BC1C}"/>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10</a:t>
            </a:fld>
            <a:endParaRPr lang="en-IN"/>
          </a:p>
        </p:txBody>
      </p:sp>
    </p:spTree>
    <p:extLst>
      <p:ext uri="{BB962C8B-B14F-4D97-AF65-F5344CB8AC3E}">
        <p14:creationId xmlns:p14="http://schemas.microsoft.com/office/powerpoint/2010/main" val="542475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5E618-6E31-E780-A794-7BB5DEC00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B6BA9-30B5-E78E-6BCF-CEED64936ED8}"/>
              </a:ext>
            </a:extLst>
          </p:cNvPr>
          <p:cNvSpPr>
            <a:spLocks noGrp="1"/>
          </p:cNvSpPr>
          <p:nvPr>
            <p:ph type="title"/>
          </p:nvPr>
        </p:nvSpPr>
        <p:spPr>
          <a:xfrm>
            <a:off x="837590" y="365760"/>
            <a:ext cx="10515600" cy="914400"/>
          </a:xfrm>
        </p:spPr>
        <p:txBody>
          <a:bodyPr wrap="square" anchor="ctr">
            <a:noAutofit/>
          </a:bodyPr>
          <a:lstStyle/>
          <a:p>
            <a:pPr algn="l"/>
            <a:r>
              <a:rPr sz="3600" b="0">
                <a:latin typeface="+mn-lt"/>
              </a:rPr>
              <a:t>Techniques</a:t>
            </a:r>
          </a:p>
        </p:txBody>
      </p:sp>
      <p:sp>
        <p:nvSpPr>
          <p:cNvPr id="3" name="Content Placeholder 2">
            <a:extLst>
              <a:ext uri="{FF2B5EF4-FFF2-40B4-BE49-F238E27FC236}">
                <a16:creationId xmlns:a16="http://schemas.microsoft.com/office/drawing/2014/main" id="{6F8FD552-81C5-89A8-8692-CBEEE3BE7D7F}"/>
              </a:ext>
            </a:extLst>
          </p:cNvPr>
          <p:cNvSpPr>
            <a:spLocks noGrp="1"/>
          </p:cNvSpPr>
          <p:nvPr>
            <p:ph idx="1"/>
          </p:nvPr>
        </p:nvSpPr>
        <p:spPr>
          <a:xfrm>
            <a:off x="837590" y="1508760"/>
            <a:ext cx="10515600" cy="4663440"/>
          </a:xfrm>
        </p:spPr>
        <p:txBody>
          <a:bodyPr wrap="square">
            <a:noAutofit/>
          </a:bodyPr>
          <a:lstStyle/>
          <a:p>
            <a:r>
              <a:rPr lang="en-IN" sz="2400" dirty="0"/>
              <a:t>Multimodal Perception Fusion: Fuses six perception streams with dynamic salience weighting and temporal decay, combining voice, screen OCR, and workspace telemetry.</a:t>
            </a:r>
          </a:p>
          <a:p>
            <a:r>
              <a:rPr lang="en-IN" sz="2400" dirty="0"/>
              <a:t>Multi-Agent Orchestration: Decomposes goals into task DAGs handled by Planning, Reasoning, Memory, and Tool agents, with token-budget routing and error-reflection loops.</a:t>
            </a:r>
          </a:p>
          <a:p>
            <a:r>
              <a:rPr lang="en-IN" sz="2400" dirty="0"/>
              <a:t>Hybrid Memory &amp; RAG: Combines dense FAISS vector search and BM25 lexical search over four memory tiers, ranked by a multi-factor relevance score with grounded citations.</a:t>
            </a:r>
          </a:p>
          <a:p>
            <a:r>
              <a:rPr lang="en-IN" sz="2400" dirty="0"/>
              <a:t>Zero-Egress Privacy &amp; AST Verification: Uses local LLM execution, regex/NER data masking, sandboxed subprocesses, and pre-execution AST scanning to block unsafe actions.</a:t>
            </a:r>
          </a:p>
          <a:p>
            <a:pPr lvl="0" algn="l">
              <a:spcAft>
                <a:spcPts val="1400"/>
              </a:spcAft>
            </a:pPr>
            <a:endParaRPr lang="en-IN" sz="2400" dirty="0">
              <a:latin typeface="+mn-lt"/>
            </a:endParaRPr>
          </a:p>
        </p:txBody>
      </p:sp>
      <p:sp>
        <p:nvSpPr>
          <p:cNvPr id="4" name="Date Placeholder 3">
            <a:extLst>
              <a:ext uri="{FF2B5EF4-FFF2-40B4-BE49-F238E27FC236}">
                <a16:creationId xmlns:a16="http://schemas.microsoft.com/office/drawing/2014/main" id="{C33C4E9D-D01A-8993-C03D-1B31F1EAADD7}"/>
              </a:ext>
            </a:extLst>
          </p:cNvPr>
          <p:cNvSpPr>
            <a:spLocks noGrp="1"/>
          </p:cNvSpPr>
          <p:nvPr>
            <p:ph type="dt" sz="half" idx="10"/>
          </p:nvPr>
        </p:nvSpPr>
        <p:spPr>
          <a:xfrm>
            <a:off x="837590" y="6355994"/>
            <a:ext cx="2743200" cy="364845"/>
          </a:xfrm>
        </p:spPr>
        <p:txBody>
          <a:bodyPr/>
          <a:lstStyle/>
          <a:p>
            <a:fld id="{CB85E715-FBBD-45DF-91FB-5CC46E2C08C1}" type="datetime1">
              <a:rPr lang="en-IN" smtClean="0"/>
              <a:t>25-10-2026</a:t>
            </a:fld>
            <a:endParaRPr lang="en-IN"/>
          </a:p>
        </p:txBody>
      </p:sp>
      <p:sp>
        <p:nvSpPr>
          <p:cNvPr id="5" name="Slide Number Placeholder 4">
            <a:extLst>
              <a:ext uri="{FF2B5EF4-FFF2-40B4-BE49-F238E27FC236}">
                <a16:creationId xmlns:a16="http://schemas.microsoft.com/office/drawing/2014/main" id="{0B76A505-781A-9C60-64FB-21AD153FF1AB}"/>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11</a:t>
            </a:fld>
            <a:endParaRPr lang="en-IN"/>
          </a:p>
        </p:txBody>
      </p:sp>
    </p:spTree>
    <p:extLst>
      <p:ext uri="{BB962C8B-B14F-4D97-AF65-F5344CB8AC3E}">
        <p14:creationId xmlns:p14="http://schemas.microsoft.com/office/powerpoint/2010/main" val="3682314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D95BF-392B-3CDE-3C29-53BC2D31867A}"/>
              </a:ext>
            </a:extLst>
          </p:cNvPr>
          <p:cNvSpPr>
            <a:spLocks noGrp="1"/>
          </p:cNvSpPr>
          <p:nvPr>
            <p:ph type="title"/>
          </p:nvPr>
        </p:nvSpPr>
        <p:spPr>
          <a:xfrm>
            <a:off x="837590" y="365760"/>
            <a:ext cx="10515600" cy="914400"/>
          </a:xfrm>
        </p:spPr>
        <p:txBody>
          <a:bodyPr wrap="square" anchor="ctr">
            <a:noAutofit/>
          </a:bodyPr>
          <a:lstStyle/>
          <a:p>
            <a:pPr algn="l"/>
            <a:r>
              <a:rPr sz="3600" b="0">
                <a:latin typeface="+mn-lt"/>
              </a:rPr>
              <a:t>Implementation</a:t>
            </a:r>
          </a:p>
        </p:txBody>
      </p:sp>
      <p:sp>
        <p:nvSpPr>
          <p:cNvPr id="4" name="Date Placeholder 3">
            <a:extLst>
              <a:ext uri="{FF2B5EF4-FFF2-40B4-BE49-F238E27FC236}">
                <a16:creationId xmlns:a16="http://schemas.microsoft.com/office/drawing/2014/main" id="{693DE7C4-DC78-09F5-F3F1-4D1A57C26FD7}"/>
              </a:ext>
            </a:extLst>
          </p:cNvPr>
          <p:cNvSpPr>
            <a:spLocks noGrp="1"/>
          </p:cNvSpPr>
          <p:nvPr>
            <p:ph type="dt" sz="half" idx="10"/>
          </p:nvPr>
        </p:nvSpPr>
        <p:spPr>
          <a:xfrm>
            <a:off x="837590" y="6355994"/>
            <a:ext cx="2743200" cy="364845"/>
          </a:xfrm>
        </p:spPr>
        <p:txBody>
          <a:bodyPr/>
          <a:lstStyle/>
          <a:p>
            <a:fld id="{CE12AF49-BBC1-412E-861B-CF739ADC132D}" type="datetime1">
              <a:rPr lang="en-IN" smtClean="0"/>
              <a:t>25-10-2026</a:t>
            </a:fld>
            <a:endParaRPr lang="en-IN"/>
          </a:p>
        </p:txBody>
      </p:sp>
      <p:sp>
        <p:nvSpPr>
          <p:cNvPr id="5" name="Slide Number Placeholder 4">
            <a:extLst>
              <a:ext uri="{FF2B5EF4-FFF2-40B4-BE49-F238E27FC236}">
                <a16:creationId xmlns:a16="http://schemas.microsoft.com/office/drawing/2014/main" id="{C466A706-2FEC-9CD6-36AC-361E711A8D2F}"/>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12</a:t>
            </a:fld>
            <a:endParaRPr lang="en-IN"/>
          </a:p>
        </p:txBody>
      </p:sp>
      <p:sp>
        <p:nvSpPr>
          <p:cNvPr id="6" name="Dataset Description"/>
          <p:cNvSpPr txBox="1"/>
          <p:nvPr/>
        </p:nvSpPr>
        <p:spPr>
          <a:xfrm>
            <a:off x="746754" y="1198368"/>
            <a:ext cx="10697272" cy="4663440"/>
          </a:xfrm>
          <a:prstGeom prst="rect">
            <a:avLst/>
          </a:prstGeom>
          <a:noFill/>
        </p:spPr>
        <p:txBody>
          <a:bodyPr wrap="square" lIns="91440" tIns="45720" rIns="91440" bIns="45720" anchor="t">
            <a:noAutofit/>
          </a:bodyPr>
          <a:lstStyle/>
          <a:p>
            <a:r>
              <a:rPr lang="en-IN" sz="2400" b="1" dirty="0"/>
              <a:t>System Description</a:t>
            </a:r>
          </a:p>
          <a:p>
            <a:r>
              <a:rPr lang="en-IN" sz="2400" dirty="0"/>
              <a:t>NEXUS uses a four-tier hybrid memory: Working memory for live runtime variables, Episodic memory for workflow logs and bug fixes, Semantic memory for documentation and codebase AST graphs, and Preference memory for developer conventions and permissions.</a:t>
            </a:r>
          </a:p>
          <a:p>
            <a:endParaRPr lang="en-IN" sz="2400" dirty="0"/>
          </a:p>
          <a:p>
            <a:r>
              <a:rPr lang="en-IN" sz="2400" b="1" dirty="0"/>
              <a:t>Memory &amp; Retrieval Setup</a:t>
            </a:r>
          </a:p>
          <a:p>
            <a:pPr lvl="0"/>
            <a:r>
              <a:rPr lang="en-IN" sz="2400" b="1" dirty="0"/>
              <a:t>Embeddings:</a:t>
            </a:r>
            <a:r>
              <a:rPr lang="en-IN" sz="2400" dirty="0"/>
              <a:t xml:space="preserve"> 384-dimensional all-MiniLM-L6-v2 vectors.</a:t>
            </a:r>
          </a:p>
          <a:p>
            <a:pPr lvl="0"/>
            <a:r>
              <a:rPr lang="en-IN" sz="2400" b="1" dirty="0"/>
              <a:t>Vector Index:</a:t>
            </a:r>
            <a:r>
              <a:rPr lang="en-IN" sz="2400" dirty="0"/>
              <a:t xml:space="preserve"> FAISS FlatIP, sub-110 ms retrieval.</a:t>
            </a:r>
          </a:p>
          <a:p>
            <a:pPr lvl="0"/>
            <a:r>
              <a:rPr lang="en-IN" sz="2400" b="1" dirty="0"/>
              <a:t>Lexical Search:</a:t>
            </a:r>
            <a:r>
              <a:rPr lang="en-IN" sz="2400" dirty="0"/>
              <a:t xml:space="preserve"> BM25 Okapi over files and documentation.</a:t>
            </a:r>
          </a:p>
          <a:p>
            <a:pPr lvl="0"/>
            <a:r>
              <a:rPr lang="en-IN" sz="2400" b="1" dirty="0"/>
              <a:t>Structured Store:</a:t>
            </a:r>
            <a:r>
              <a:rPr lang="en-IN" sz="2400" dirty="0"/>
              <a:t xml:space="preserve"> SQLite3 / JSON for metadata and logs.</a:t>
            </a:r>
          </a:p>
          <a:p>
            <a:pPr>
              <a:spcAft>
                <a:spcPts val="400"/>
              </a:spcAft>
            </a:pPr>
            <a:endParaRPr sz="1800" b="0" dirty="0"/>
          </a:p>
        </p:txBody>
      </p:sp>
    </p:spTree>
    <p:extLst>
      <p:ext uri="{BB962C8B-B14F-4D97-AF65-F5344CB8AC3E}">
        <p14:creationId xmlns:p14="http://schemas.microsoft.com/office/powerpoint/2010/main" val="3297692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A2949-2C30-6E16-0DC0-B711AC0CAB5A}"/>
              </a:ext>
            </a:extLst>
          </p:cNvPr>
          <p:cNvSpPr>
            <a:spLocks noGrp="1"/>
          </p:cNvSpPr>
          <p:nvPr>
            <p:ph type="title"/>
          </p:nvPr>
        </p:nvSpPr>
        <p:spPr>
          <a:xfrm>
            <a:off x="837590" y="365760"/>
            <a:ext cx="10515600" cy="914400"/>
          </a:xfrm>
        </p:spPr>
        <p:txBody>
          <a:bodyPr wrap="square" anchor="ctr">
            <a:noAutofit/>
          </a:bodyPr>
          <a:lstStyle/>
          <a:p>
            <a:pPr algn="l"/>
            <a:r>
              <a:rPr sz="3600" b="0">
                <a:latin typeface="+mn-lt"/>
              </a:rPr>
              <a:t>Environment Setup</a:t>
            </a:r>
          </a:p>
        </p:txBody>
      </p:sp>
      <p:sp>
        <p:nvSpPr>
          <p:cNvPr id="4" name="Date Placeholder 3">
            <a:extLst>
              <a:ext uri="{FF2B5EF4-FFF2-40B4-BE49-F238E27FC236}">
                <a16:creationId xmlns:a16="http://schemas.microsoft.com/office/drawing/2014/main" id="{7B4C3FB7-FC3D-B3C9-9E09-E01E8E364CB8}"/>
              </a:ext>
            </a:extLst>
          </p:cNvPr>
          <p:cNvSpPr>
            <a:spLocks noGrp="1"/>
          </p:cNvSpPr>
          <p:nvPr>
            <p:ph type="dt" sz="half" idx="10"/>
          </p:nvPr>
        </p:nvSpPr>
        <p:spPr>
          <a:xfrm>
            <a:off x="837590" y="6355994"/>
            <a:ext cx="2743200" cy="364845"/>
          </a:xfrm>
        </p:spPr>
        <p:txBody>
          <a:bodyPr/>
          <a:lstStyle/>
          <a:p>
            <a:fld id="{BF9B7691-07BF-493C-83B8-00DDE0D645D7}" type="datetime1">
              <a:rPr lang="en-IN" smtClean="0"/>
              <a:t>25-10-2026</a:t>
            </a:fld>
            <a:endParaRPr lang="en-IN"/>
          </a:p>
        </p:txBody>
      </p:sp>
      <p:sp>
        <p:nvSpPr>
          <p:cNvPr id="5" name="Slide Number Placeholder 4">
            <a:extLst>
              <a:ext uri="{FF2B5EF4-FFF2-40B4-BE49-F238E27FC236}">
                <a16:creationId xmlns:a16="http://schemas.microsoft.com/office/drawing/2014/main" id="{6AC56898-FAF2-0513-75F5-C8B98EC38364}"/>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13</a:t>
            </a:fld>
            <a:endParaRPr lang="en-IN"/>
          </a:p>
        </p:txBody>
      </p:sp>
      <p:sp>
        <p:nvSpPr>
          <p:cNvPr id="6" name="Language &amp; Platform"/>
          <p:cNvSpPr txBox="1"/>
          <p:nvPr/>
        </p:nvSpPr>
        <p:spPr>
          <a:xfrm>
            <a:off x="837589" y="1508759"/>
            <a:ext cx="10515599" cy="4531313"/>
          </a:xfrm>
          <a:prstGeom prst="rect">
            <a:avLst/>
          </a:prstGeom>
          <a:noFill/>
        </p:spPr>
        <p:txBody>
          <a:bodyPr wrap="square" lIns="91440" tIns="45720" rIns="91440" bIns="45720" anchor="t">
            <a:noAutofit/>
          </a:bodyPr>
          <a:lstStyle/>
          <a:p>
            <a:pPr lvl="0"/>
            <a:r>
              <a:rPr lang="en-IN" sz="2400" dirty="0"/>
              <a:t>Language &amp; Platform: Python (Asyncio, Threading) on a Windows desktop with a PyQt6 GUI.</a:t>
            </a:r>
          </a:p>
          <a:p>
            <a:pPr lvl="0"/>
            <a:endParaRPr lang="en-IN" sz="2400" dirty="0"/>
          </a:p>
          <a:p>
            <a:pPr lvl="0"/>
            <a:r>
              <a:rPr lang="en-IN" sz="2400" dirty="0"/>
              <a:t>Libraries &amp; Frameworks: PyAudio, SoundDevice, OpenCV, Tesseract, PyAutoGUI, Playwright, Sentence-Transformers, FAISS, ChromaDB, and SQLite3.</a:t>
            </a:r>
          </a:p>
          <a:p>
            <a:pPr lvl="0"/>
            <a:endParaRPr lang="en-IN" sz="2400" dirty="0"/>
          </a:p>
          <a:p>
            <a:pPr lvl="0"/>
            <a:r>
              <a:rPr lang="en-IN" sz="2400" dirty="0"/>
              <a:t>Models &amp; Algorithms: OpenAI Whisper for speech-to-text, quantized LLaMA 3 (8B) and Mistral 7B Instruct through Ollama, all-MiniLM-L6-v2 embeddings, and BM25 Okapi for keyword search.</a:t>
            </a:r>
          </a:p>
          <a:p>
            <a:pPr>
              <a:spcAft>
                <a:spcPts val="800"/>
              </a:spcAft>
            </a:pPr>
            <a:endParaRPr sz="2400" b="0" dirty="0"/>
          </a:p>
        </p:txBody>
      </p:sp>
    </p:spTree>
    <p:extLst>
      <p:ext uri="{BB962C8B-B14F-4D97-AF65-F5344CB8AC3E}">
        <p14:creationId xmlns:p14="http://schemas.microsoft.com/office/powerpoint/2010/main" val="303815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22607-7857-8A56-5EA7-71E434B95597}"/>
              </a:ext>
            </a:extLst>
          </p:cNvPr>
          <p:cNvSpPr>
            <a:spLocks noGrp="1"/>
          </p:cNvSpPr>
          <p:nvPr>
            <p:ph type="title"/>
          </p:nvPr>
        </p:nvSpPr>
        <p:spPr>
          <a:xfrm>
            <a:off x="837590" y="40445"/>
            <a:ext cx="10515600" cy="914400"/>
          </a:xfrm>
        </p:spPr>
        <p:txBody>
          <a:bodyPr wrap="square" anchor="ctr">
            <a:noAutofit/>
          </a:bodyPr>
          <a:lstStyle/>
          <a:p>
            <a:pPr algn="l"/>
            <a:r>
              <a:rPr sz="3600" b="0" dirty="0">
                <a:latin typeface="+mn-lt"/>
              </a:rPr>
              <a:t>Evaluation Metrics</a:t>
            </a:r>
          </a:p>
        </p:txBody>
      </p:sp>
      <p:sp>
        <p:nvSpPr>
          <p:cNvPr id="4" name="Date Placeholder 3">
            <a:extLst>
              <a:ext uri="{FF2B5EF4-FFF2-40B4-BE49-F238E27FC236}">
                <a16:creationId xmlns:a16="http://schemas.microsoft.com/office/drawing/2014/main" id="{3AE80C1E-0693-D702-64D5-EA1CFF3001CA}"/>
              </a:ext>
            </a:extLst>
          </p:cNvPr>
          <p:cNvSpPr>
            <a:spLocks noGrp="1"/>
          </p:cNvSpPr>
          <p:nvPr>
            <p:ph type="dt" sz="half" idx="10"/>
          </p:nvPr>
        </p:nvSpPr>
        <p:spPr>
          <a:xfrm>
            <a:off x="837590" y="6355994"/>
            <a:ext cx="2743200" cy="364845"/>
          </a:xfrm>
        </p:spPr>
        <p:txBody>
          <a:bodyPr/>
          <a:lstStyle/>
          <a:p>
            <a:fld id="{BF9B7691-07BF-493C-83B8-00DDE0D645D7}" type="datetime1">
              <a:rPr lang="en-IN" smtClean="0"/>
              <a:t>25-10-2026</a:t>
            </a:fld>
            <a:endParaRPr lang="en-IN"/>
          </a:p>
        </p:txBody>
      </p:sp>
      <p:sp>
        <p:nvSpPr>
          <p:cNvPr id="5" name="Slide Number Placeholder 4">
            <a:extLst>
              <a:ext uri="{FF2B5EF4-FFF2-40B4-BE49-F238E27FC236}">
                <a16:creationId xmlns:a16="http://schemas.microsoft.com/office/drawing/2014/main" id="{B71A55F5-7554-61AD-041D-0ADBB3488EDA}"/>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14</a:t>
            </a:fld>
            <a:endParaRPr lang="en-IN"/>
          </a:p>
        </p:txBody>
      </p:sp>
      <p:sp>
        <p:nvSpPr>
          <p:cNvPr id="28" name="Metrics"/>
          <p:cNvSpPr txBox="1"/>
          <p:nvPr/>
        </p:nvSpPr>
        <p:spPr>
          <a:xfrm>
            <a:off x="700430" y="4289364"/>
            <a:ext cx="10515600" cy="1965960"/>
          </a:xfrm>
          <a:prstGeom prst="rect">
            <a:avLst/>
          </a:prstGeom>
          <a:noFill/>
        </p:spPr>
        <p:txBody>
          <a:bodyPr wrap="square" lIns="91440" tIns="45720" rIns="91440" bIns="45720" anchor="t">
            <a:noAutofit/>
          </a:bodyPr>
          <a:lstStyle/>
          <a:p>
            <a:pPr>
              <a:spcAft>
                <a:spcPts val="600"/>
              </a:spcAft>
            </a:pPr>
            <a:r>
              <a:rPr sz="2200" dirty="0"/>
              <a:t>Metrics</a:t>
            </a:r>
            <a:endParaRPr lang="en-US" sz="2200" dirty="0">
              <a:ea typeface="Calibri"/>
              <a:cs typeface="Calibri"/>
            </a:endParaRPr>
          </a:p>
          <a:p>
            <a:pPr marL="274320" indent="-274320">
              <a:spcAft>
                <a:spcPts val="600"/>
              </a:spcAft>
              <a:buFont typeface="Arial"/>
              <a:buChar char="•"/>
            </a:pPr>
            <a:r>
              <a:rPr sz="1800" b="1" dirty="0"/>
              <a:t>Voice Latency: </a:t>
            </a:r>
            <a:r>
              <a:rPr sz="1800" dirty="0"/>
              <a:t>Time to confirm a spoken wake-word command.</a:t>
            </a:r>
          </a:p>
          <a:p>
            <a:pPr marL="274320" indent="-274320">
              <a:spcAft>
                <a:spcPts val="600"/>
              </a:spcAft>
              <a:buFont typeface="Arial"/>
              <a:buChar char="•"/>
            </a:pPr>
            <a:r>
              <a:rPr sz="1800" b="1" dirty="0"/>
              <a:t>Retrieval Latency: </a:t>
            </a:r>
            <a:r>
              <a:rPr sz="1800" dirty="0"/>
              <a:t>Time to fetch ranked context from memory.</a:t>
            </a:r>
          </a:p>
          <a:p>
            <a:pPr marL="274320" indent="-274320">
              <a:spcAft>
                <a:spcPts val="600"/>
              </a:spcAft>
              <a:buFont typeface="Arial"/>
              <a:buChar char="•"/>
            </a:pPr>
            <a:r>
              <a:rPr sz="1800" b="1" dirty="0"/>
              <a:t>Frame Rate: </a:t>
            </a:r>
            <a:r>
              <a:rPr sz="1800" dirty="0"/>
              <a:t>Smoothness of the live AI orb interface.</a:t>
            </a:r>
          </a:p>
          <a:p>
            <a:pPr marL="274320" indent="-274320">
              <a:spcAft>
                <a:spcPts val="600"/>
              </a:spcAft>
              <a:buFont typeface="Arial"/>
              <a:buChar char="•"/>
            </a:pPr>
            <a:r>
              <a:rPr sz="1800" b="1" dirty="0"/>
              <a:t>Turn Latency: </a:t>
            </a:r>
            <a:r>
              <a:rPr sz="1800" dirty="0"/>
              <a:t>Time for one multi-agent reasoning loop.</a:t>
            </a:r>
          </a:p>
        </p:txBody>
      </p:sp>
      <p:sp>
        <p:nvSpPr>
          <p:cNvPr id="30" name="Key Performance Indicators"/>
          <p:cNvSpPr txBox="1"/>
          <p:nvPr/>
        </p:nvSpPr>
        <p:spPr>
          <a:xfrm>
            <a:off x="837590" y="1023425"/>
            <a:ext cx="10515600" cy="457200"/>
          </a:xfrm>
          <a:prstGeom prst="rect">
            <a:avLst/>
          </a:prstGeom>
          <a:noFill/>
        </p:spPr>
        <p:txBody>
          <a:bodyPr wrap="square">
            <a:noAutofit/>
          </a:bodyPr>
          <a:lstStyle/>
          <a:p>
            <a:pPr>
              <a:spcAft>
                <a:spcPts val="400"/>
              </a:spcAft>
            </a:pPr>
            <a:r>
              <a:rPr sz="2200" b="1">
                <a:solidFill>
                  <a:schemeClr val="accent1"/>
                </a:solidFill>
              </a:rPr>
              <a:t>Key Performance Indicators</a:t>
            </a:r>
          </a:p>
        </p:txBody>
      </p:sp>
      <p:graphicFrame>
        <p:nvGraphicFramePr>
          <p:cNvPr id="31" name="Table 30"/>
          <p:cNvGraphicFramePr>
            <a:graphicFrameLocks noGrp="1"/>
          </p:cNvGraphicFramePr>
          <p:nvPr/>
        </p:nvGraphicFramePr>
        <p:xfrm>
          <a:off x="1638912" y="1554480"/>
          <a:ext cx="8419489" cy="2103120"/>
        </p:xfrm>
        <a:graphic>
          <a:graphicData uri="http://schemas.openxmlformats.org/drawingml/2006/table">
            <a:tbl>
              <a:tblPr firstRow="1" bandRow="1">
                <a:tableStyleId>{5C22544A-7EE6-4342-B048-85BDC9FD1C3A}</a:tableStyleId>
              </a:tblPr>
              <a:tblGrid>
                <a:gridCol w="5400000"/>
                <a:gridCol w="3019489"/>
              </a:tblGrid>
              <a:tr h="420624">
                <a:tc>
                  <a:txBody>
                    <a:bodyPr/>
                    <a:lstStyle/>
                    <a:p>
                      <a:pPr algn="l"/>
                      <a:r>
                        <a:rPr sz="1400" b="1"/>
                        <a:t>Metric</a:t>
                      </a:r>
                    </a:p>
                  </a:txBody>
                  <a:tcPr anchor="ctr"/>
                </a:tc>
                <a:tc>
                  <a:txBody>
                    <a:bodyPr/>
                    <a:lstStyle/>
                    <a:p>
                      <a:pPr algn="ctr"/>
                      <a:r>
                        <a:rPr sz="1400" b="1"/>
                        <a:t>Reported Value</a:t>
                      </a:r>
                    </a:p>
                  </a:txBody>
                  <a:tcPr anchor="ctr"/>
                </a:tc>
              </a:tr>
              <a:tr h="420624">
                <a:tc>
                  <a:txBody>
                    <a:bodyPr/>
                    <a:lstStyle/>
                    <a:p>
                      <a:pPr algn="l"/>
                      <a:r>
                        <a:rPr sz="1400"/>
                        <a:t>Wake-word voice confirmation</a:t>
                      </a:r>
                    </a:p>
                  </a:txBody>
                  <a:tcPr anchor="ctr"/>
                </a:tc>
                <a:tc>
                  <a:txBody>
                    <a:bodyPr/>
                    <a:lstStyle/>
                    <a:p>
                      <a:pPr algn="ctr"/>
                      <a:r>
                        <a:rPr sz="1400"/>
                        <a:t>&lt; 100 ms</a:t>
                      </a:r>
                    </a:p>
                  </a:txBody>
                  <a:tcPr anchor="ctr"/>
                </a:tc>
              </a:tr>
              <a:tr h="420624">
                <a:tc>
                  <a:txBody>
                    <a:bodyPr/>
                    <a:lstStyle/>
                    <a:p>
                      <a:pPr algn="l"/>
                      <a:r>
                        <a:rPr sz="1400"/>
                        <a:t>Memory retrieval latency (FAISS, 384-d)</a:t>
                      </a:r>
                    </a:p>
                  </a:txBody>
                  <a:tcPr anchor="ctr"/>
                </a:tc>
                <a:tc>
                  <a:txBody>
                    <a:bodyPr/>
                    <a:lstStyle/>
                    <a:p>
                      <a:pPr algn="ctr"/>
                      <a:r>
                        <a:rPr sz="1400"/>
                        <a:t>&lt; 110 ms</a:t>
                      </a:r>
                    </a:p>
                  </a:txBody>
                  <a:tcPr anchor="ctr"/>
                </a:tc>
              </a:tr>
              <a:tr h="420624">
                <a:tc>
                  <a:txBody>
                    <a:bodyPr/>
                    <a:lstStyle/>
                    <a:p>
                      <a:pPr algn="l"/>
                      <a:r>
                        <a:rPr sz="1400"/>
                        <a:t>AI orb interface frame rate</a:t>
                      </a:r>
                    </a:p>
                  </a:txBody>
                  <a:tcPr anchor="ctr"/>
                </a:tc>
                <a:tc>
                  <a:txBody>
                    <a:bodyPr/>
                    <a:lstStyle/>
                    <a:p>
                      <a:pPr algn="ctr"/>
                      <a:r>
                        <a:rPr sz="1400"/>
                        <a:t>60 FPS</a:t>
                      </a:r>
                    </a:p>
                  </a:txBody>
                  <a:tcPr anchor="ctr"/>
                </a:tc>
              </a:tr>
              <a:tr h="420624">
                <a:tc>
                  <a:txBody>
                    <a:bodyPr/>
                    <a:lstStyle/>
                    <a:p>
                      <a:pPr algn="l"/>
                      <a:r>
                        <a:rPr sz="1400"/>
                        <a:t>Multi-agent reasoning turn (CPU only)</a:t>
                      </a:r>
                    </a:p>
                  </a:txBody>
                  <a:tcPr anchor="ctr"/>
                </a:tc>
                <a:tc>
                  <a:txBody>
                    <a:bodyPr/>
                    <a:lstStyle/>
                    <a:p>
                      <a:pPr algn="ctr"/>
                      <a:r>
                        <a:rPr sz="1400"/>
                        <a:t>1.5–3.5 s</a:t>
                      </a:r>
                    </a:p>
                  </a:txBody>
                  <a:tcPr anchor="ctr"/>
                </a:tc>
              </a:tr>
            </a:tbl>
          </a:graphicData>
        </a:graphic>
      </p:graphicFrame>
    </p:spTree>
    <p:extLst>
      <p:ext uri="{BB962C8B-B14F-4D97-AF65-F5344CB8AC3E}">
        <p14:creationId xmlns:p14="http://schemas.microsoft.com/office/powerpoint/2010/main" val="2067973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2119B-DEE5-5C0E-4C9D-AC105C1EA86D}"/>
              </a:ext>
            </a:extLst>
          </p:cNvPr>
          <p:cNvSpPr>
            <a:spLocks noGrp="1"/>
          </p:cNvSpPr>
          <p:nvPr>
            <p:ph type="title"/>
          </p:nvPr>
        </p:nvSpPr>
        <p:spPr>
          <a:xfrm>
            <a:off x="837590" y="365760"/>
            <a:ext cx="10515600" cy="914400"/>
          </a:xfrm>
        </p:spPr>
        <p:txBody>
          <a:bodyPr wrap="square" anchor="ctr">
            <a:noAutofit/>
          </a:bodyPr>
          <a:lstStyle/>
          <a:p>
            <a:pPr algn="l"/>
            <a:r>
              <a:rPr sz="3600" b="0">
                <a:latin typeface="+mn-lt"/>
              </a:rPr>
              <a:t>Result Analysis</a:t>
            </a:r>
          </a:p>
        </p:txBody>
      </p:sp>
      <p:sp>
        <p:nvSpPr>
          <p:cNvPr id="4" name="Date Placeholder 3">
            <a:extLst>
              <a:ext uri="{FF2B5EF4-FFF2-40B4-BE49-F238E27FC236}">
                <a16:creationId xmlns:a16="http://schemas.microsoft.com/office/drawing/2014/main" id="{1F2A3041-4C22-F024-C095-618A8E0AEA69}"/>
              </a:ext>
            </a:extLst>
          </p:cNvPr>
          <p:cNvSpPr>
            <a:spLocks noGrp="1"/>
          </p:cNvSpPr>
          <p:nvPr>
            <p:ph type="dt" sz="half" idx="10"/>
          </p:nvPr>
        </p:nvSpPr>
        <p:spPr>
          <a:xfrm>
            <a:off x="837590" y="6355994"/>
            <a:ext cx="2743200" cy="364845"/>
          </a:xfrm>
        </p:spPr>
        <p:txBody>
          <a:bodyPr/>
          <a:lstStyle/>
          <a:p>
            <a:fld id="{2FA994E4-0ECC-4B60-A4DE-02FBF1AC957B}" type="datetime1">
              <a:rPr lang="en-IN" smtClean="0"/>
              <a:t>25-10-2026</a:t>
            </a:fld>
            <a:endParaRPr lang="en-IN"/>
          </a:p>
        </p:txBody>
      </p:sp>
      <p:sp>
        <p:nvSpPr>
          <p:cNvPr id="5" name="Slide Number Placeholder 4">
            <a:extLst>
              <a:ext uri="{FF2B5EF4-FFF2-40B4-BE49-F238E27FC236}">
                <a16:creationId xmlns:a16="http://schemas.microsoft.com/office/drawing/2014/main" id="{71099DBB-D07C-4AE2-EDC2-469D28AF9BA0}"/>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15</a:t>
            </a:fld>
            <a:endParaRPr lang="en-IN"/>
          </a:p>
        </p:txBody>
      </p:sp>
      <p:sp>
        <p:nvSpPr>
          <p:cNvPr id="13" name="TextBox 12">
            <a:extLst>
              <a:ext uri="{FF2B5EF4-FFF2-40B4-BE49-F238E27FC236}">
                <a16:creationId xmlns:a16="http://schemas.microsoft.com/office/drawing/2014/main" id="{26F48275-198E-C8C4-3FB4-858A6E442F93}"/>
              </a:ext>
            </a:extLst>
          </p:cNvPr>
          <p:cNvSpPr txBox="1"/>
          <p:nvPr/>
        </p:nvSpPr>
        <p:spPr>
          <a:xfrm>
            <a:off x="837590" y="1508760"/>
            <a:ext cx="3657600" cy="457200"/>
          </a:xfrm>
          <a:prstGeom prst="rect">
            <a:avLst/>
          </a:prstGeom>
          <a:noFill/>
        </p:spPr>
        <p:txBody>
          <a:bodyPr rot="0" spcFirstLastPara="0" vertOverflow="overflow" horzOverflow="overflow" vert="horz" wrap="square" tIns="45720" rIns="91440" bIns="45720" numCol="1" spcCol="0" rtlCol="0" fromWordArt="0" anchor="t" anchorCtr="0" forceAA="0" compatLnSpc="1">
            <a:prstTxWarp prst="textNoShape">
              <a:avLst/>
            </a:prstTxWarp>
            <a:spAutoFit/>
          </a:bodyPr>
          <a:lstStyle/>
          <a:p>
            <a:pPr algn="l"/>
            <a:r>
              <a:rPr lang="en-US" sz="2200" b="1">
                <a:ea typeface="+mn-lt"/>
                <a:cs typeface="+mn-lt"/>
              </a:rPr>
              <a:t>Anticipated Benefits</a:t>
            </a:r>
            <a:endParaRPr lang="en-US" sz="3200">
              <a:ea typeface="Calibri" panose="020F0502020204030204"/>
              <a:cs typeface="Calibri" panose="020F0502020204030204"/>
            </a:endParaRPr>
          </a:p>
        </p:txBody>
      </p:sp>
      <p:sp>
        <p:nvSpPr>
          <p:cNvPr id="28" name="Benefits"/>
          <p:cNvSpPr txBox="1"/>
          <p:nvPr/>
        </p:nvSpPr>
        <p:spPr>
          <a:xfrm>
            <a:off x="837590" y="2057400"/>
            <a:ext cx="10515600" cy="3977640"/>
          </a:xfrm>
          <a:prstGeom prst="rect">
            <a:avLst/>
          </a:prstGeom>
          <a:noFill/>
        </p:spPr>
        <p:txBody>
          <a:bodyPr wrap="square" lIns="91440" tIns="45720" rIns="91440" bIns="45720" anchor="t">
            <a:noAutofit/>
          </a:bodyPr>
          <a:lstStyle/>
          <a:p>
            <a:pPr marL="274320" indent="-274320">
              <a:spcAft>
                <a:spcPts val="600"/>
              </a:spcAft>
              <a:buFont typeface="Arial"/>
              <a:buChar char="•"/>
            </a:pPr>
            <a:r>
              <a:rPr sz="1800" b="1" dirty="0"/>
              <a:t>Contextual Continuity: </a:t>
            </a:r>
            <a:r>
              <a:rPr sz="1800" dirty="0"/>
              <a:t>Four-tier memory retains project context and past bug fixes across desktop reboots.</a:t>
            </a:r>
          </a:p>
          <a:p>
            <a:pPr marL="274320" indent="-274320">
              <a:spcAft>
                <a:spcPts val="600"/>
              </a:spcAft>
              <a:buFont typeface="Arial"/>
              <a:buChar char="•"/>
            </a:pPr>
            <a:r>
              <a:rPr sz="1800" b="1" dirty="0"/>
              <a:t>Deep Personalization: </a:t>
            </a:r>
            <a:r>
              <a:rPr sz="1800" dirty="0"/>
              <a:t>Automatically learns developer conventions, linters, and CLI shortcuts without configuration.</a:t>
            </a:r>
          </a:p>
          <a:p>
            <a:pPr marL="274320" indent="-274320">
              <a:spcAft>
                <a:spcPts val="600"/>
              </a:spcAft>
              <a:buFont typeface="Arial"/>
              <a:buChar char="•"/>
            </a:pPr>
            <a:r>
              <a:rPr sz="1800" b="1" dirty="0"/>
              <a:t>Unified Multimodal Interaction: </a:t>
            </a:r>
            <a:r>
              <a:rPr sz="1800" dirty="0"/>
              <a:t>Coordinates speech, screen OCR, and active-window bounds for commands like “refactor this method”.</a:t>
            </a:r>
          </a:p>
          <a:p>
            <a:pPr marL="274320" indent="-274320">
              <a:spcAft>
                <a:spcPts val="600"/>
              </a:spcAft>
              <a:buFont typeface="Arial"/>
              <a:buChar char="•"/>
            </a:pPr>
            <a:r>
              <a:rPr sz="1800" b="1" dirty="0"/>
              <a:t>Autonomous Execution: </a:t>
            </a:r>
            <a:r>
              <a:rPr sz="1800" dirty="0"/>
              <a:t>Breaks goals into atomic DAG plans with automated self-correction on compiler or syntax errors.</a:t>
            </a:r>
          </a:p>
          <a:p>
            <a:pPr marL="274320" indent="-274320">
              <a:spcAft>
                <a:spcPts val="600"/>
              </a:spcAft>
              <a:buFont typeface="Arial"/>
              <a:buChar char="•"/>
            </a:pPr>
            <a:r>
              <a:rPr sz="1800" b="1" dirty="0"/>
              <a:t>Data Sovereignty: </a:t>
            </a:r>
            <a:r>
              <a:rPr sz="1800" dirty="0"/>
              <a:t>100% on-device execution with zero cloud telemetry, supporting enterprise NDA, GDPR, and HIPAA requirements.</a:t>
            </a:r>
          </a:p>
        </p:txBody>
      </p:sp>
    </p:spTree>
    <p:extLst>
      <p:ext uri="{BB962C8B-B14F-4D97-AF65-F5344CB8AC3E}">
        <p14:creationId xmlns:p14="http://schemas.microsoft.com/office/powerpoint/2010/main" val="2439194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74D0-33BA-3980-2926-9324274E0B3C}"/>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cs typeface="Segoe UI" panose="020B0502040204020203" pitchFamily="34" charset="0"/>
              </a:rPr>
              <a:t>Conclusion</a:t>
            </a:r>
          </a:p>
        </p:txBody>
      </p:sp>
      <p:sp>
        <p:nvSpPr>
          <p:cNvPr id="3" name="Content Placeholder 2">
            <a:extLst>
              <a:ext uri="{FF2B5EF4-FFF2-40B4-BE49-F238E27FC236}">
                <a16:creationId xmlns:a16="http://schemas.microsoft.com/office/drawing/2014/main" id="{EB2666D2-C43C-3651-FC89-3B9CC87F424D}"/>
              </a:ext>
            </a:extLst>
          </p:cNvPr>
          <p:cNvSpPr>
            <a:spLocks noGrp="1"/>
          </p:cNvSpPr>
          <p:nvPr>
            <p:ph idx="1"/>
          </p:nvPr>
        </p:nvSpPr>
        <p:spPr>
          <a:xfrm>
            <a:off x="837590" y="1508760"/>
            <a:ext cx="10515600" cy="4663440"/>
          </a:xfrm>
        </p:spPr>
        <p:txBody>
          <a:bodyPr wrap="square">
            <a:noAutofit/>
          </a:bodyPr>
          <a:lstStyle/>
          <a:p>
            <a:pPr marL="0" indent="0">
              <a:spcAft>
                <a:spcPts val="1200"/>
              </a:spcAft>
              <a:buNone/>
            </a:pPr>
            <a:r>
              <a:rPr lang="en-IN" sz="2400" dirty="0"/>
              <a:t>NEXUS unifies voice-first multimodal perception, a collaborative multi-agent mesh, and a four-tier cognitive memory hierarchy in a private desktop assistant. Six perception streams are fused with dynamic salience weighting, specialized agents decompose goals into task DAGs with error-reflection loops, and a multi-factor relevance score with grounded RAG citations supplies context. All processing runs 100% on-device with a local LLM, regex/NER data masking, AST checks, and rollback gates. NEXUS demonstrates that desktop AI assistants can deliver deep personalization and multimodal awareness without compromising data sovereignty, intellectual property, or operational safety. Current limitations include dependence on 8–16 GB of GPU VRAM for 8B+ models, 1.5–3.5 s turn latency on consumer CPUs, single-workstation scope, and OCR edge cases in dense IDEs.</a:t>
            </a:r>
          </a:p>
          <a:p>
            <a:pPr marL="0" indent="0">
              <a:spcAft>
                <a:spcPts val="1200"/>
              </a:spcAft>
              <a:buNone/>
            </a:pPr>
            <a:endParaRPr lang="en-IN" sz="2600" dirty="0">
              <a:latin typeface="+mn-lt"/>
            </a:endParaRPr>
          </a:p>
        </p:txBody>
      </p:sp>
      <p:sp>
        <p:nvSpPr>
          <p:cNvPr id="4" name="Date Placeholder 3">
            <a:extLst>
              <a:ext uri="{FF2B5EF4-FFF2-40B4-BE49-F238E27FC236}">
                <a16:creationId xmlns:a16="http://schemas.microsoft.com/office/drawing/2014/main" id="{685E0E2D-CE6D-9030-48FB-7B54B56DEB4C}"/>
              </a:ext>
            </a:extLst>
          </p:cNvPr>
          <p:cNvSpPr>
            <a:spLocks noGrp="1"/>
          </p:cNvSpPr>
          <p:nvPr>
            <p:ph type="dt" sz="half" idx="10"/>
          </p:nvPr>
        </p:nvSpPr>
        <p:spPr>
          <a:xfrm>
            <a:off x="837590" y="6355994"/>
            <a:ext cx="2743200" cy="364845"/>
          </a:xfrm>
        </p:spPr>
        <p:txBody>
          <a:bodyPr/>
          <a:lstStyle/>
          <a:p>
            <a:fld id="{D33820E4-330B-4F41-A257-F2D0F7DC9105}" type="datetime1">
              <a:rPr lang="en-IN" smtClean="0"/>
              <a:t>25-10-2026</a:t>
            </a:fld>
            <a:endParaRPr lang="en-IN"/>
          </a:p>
        </p:txBody>
      </p:sp>
      <p:sp>
        <p:nvSpPr>
          <p:cNvPr id="5" name="Slide Number Placeholder 4">
            <a:extLst>
              <a:ext uri="{FF2B5EF4-FFF2-40B4-BE49-F238E27FC236}">
                <a16:creationId xmlns:a16="http://schemas.microsoft.com/office/drawing/2014/main" id="{612BF2D6-AF3E-B51F-C3A2-C773A3A41A5D}"/>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18</a:t>
            </a:fld>
            <a:endParaRPr lang="en-IN"/>
          </a:p>
        </p:txBody>
      </p:sp>
    </p:spTree>
    <p:extLst>
      <p:ext uri="{BB962C8B-B14F-4D97-AF65-F5344CB8AC3E}">
        <p14:creationId xmlns:p14="http://schemas.microsoft.com/office/powerpoint/2010/main" val="3048679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7FB46-B655-8F69-7413-DE3083CD396D}"/>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cs typeface="Segoe UI" panose="020B0502040204020203" pitchFamily="34" charset="0"/>
              </a:rPr>
              <a:t>Future Scope</a:t>
            </a:r>
          </a:p>
        </p:txBody>
      </p:sp>
      <p:sp>
        <p:nvSpPr>
          <p:cNvPr id="3" name="Content Placeholder 2">
            <a:extLst>
              <a:ext uri="{FF2B5EF4-FFF2-40B4-BE49-F238E27FC236}">
                <a16:creationId xmlns:a16="http://schemas.microsoft.com/office/drawing/2014/main" id="{8EBE1F2F-30E0-DD4D-5F85-3822259FEA6A}"/>
              </a:ext>
            </a:extLst>
          </p:cNvPr>
          <p:cNvSpPr>
            <a:spLocks noGrp="1"/>
          </p:cNvSpPr>
          <p:nvPr>
            <p:ph idx="1"/>
          </p:nvPr>
        </p:nvSpPr>
        <p:spPr>
          <a:xfrm>
            <a:off x="837590" y="1508760"/>
            <a:ext cx="10515600" cy="4663440"/>
          </a:xfrm>
        </p:spPr>
        <p:txBody>
          <a:bodyPr wrap="square">
            <a:noAutofit/>
          </a:bodyPr>
          <a:lstStyle/>
          <a:p>
            <a:r>
              <a:rPr lang="en-IN" sz="2400" dirty="0"/>
              <a:t>Sub-Pixel Visual Grounding Models: Integrate compact vision-language models for direct pixel-coordinate UI segmentation.</a:t>
            </a:r>
          </a:p>
          <a:p>
            <a:r>
              <a:rPr lang="en-IN" sz="2400" dirty="0"/>
              <a:t>Autonomous Peer-to-Peer Agent Swarms: Coordinate Tech Lead, Developer, and QA Tester agents in parallel.</a:t>
            </a:r>
          </a:p>
          <a:p>
            <a:r>
              <a:rPr lang="en-IN" sz="2400" dirty="0"/>
              <a:t>Low-Power Edge Distillation (1B–3B): Fine-tune ultra-compact models for NPU accelerators with a footprint under 2 GB VRAM.</a:t>
            </a:r>
          </a:p>
          <a:p>
            <a:r>
              <a:rPr lang="en-IN" sz="2400" dirty="0"/>
              <a:t>Multi-Device Encrypted Memory Sync: Implement peer-to-peer encrypted memory replication to maintain continuity across workstations.</a:t>
            </a:r>
          </a:p>
          <a:p>
            <a:pPr lvl="0" algn="l">
              <a:spcAft>
                <a:spcPts val="1400"/>
              </a:spcAft>
            </a:pPr>
            <a:endParaRPr lang="en-IN" sz="2400" dirty="0">
              <a:latin typeface="+mn-lt"/>
            </a:endParaRPr>
          </a:p>
        </p:txBody>
      </p:sp>
      <p:sp>
        <p:nvSpPr>
          <p:cNvPr id="4" name="Date Placeholder 3">
            <a:extLst>
              <a:ext uri="{FF2B5EF4-FFF2-40B4-BE49-F238E27FC236}">
                <a16:creationId xmlns:a16="http://schemas.microsoft.com/office/drawing/2014/main" id="{7B4513B6-AC20-F806-6182-039814F529C6}"/>
              </a:ext>
            </a:extLst>
          </p:cNvPr>
          <p:cNvSpPr>
            <a:spLocks noGrp="1"/>
          </p:cNvSpPr>
          <p:nvPr>
            <p:ph type="dt" sz="half" idx="10"/>
          </p:nvPr>
        </p:nvSpPr>
        <p:spPr>
          <a:xfrm>
            <a:off x="837590" y="6355994"/>
            <a:ext cx="2743200" cy="364845"/>
          </a:xfrm>
        </p:spPr>
        <p:txBody>
          <a:bodyPr/>
          <a:lstStyle/>
          <a:p>
            <a:fld id="{FFFC5C0C-ED5F-4709-B635-1600829730A1}" type="datetime1">
              <a:rPr lang="en-IN" smtClean="0"/>
              <a:t>25-10-2026</a:t>
            </a:fld>
            <a:endParaRPr lang="en-IN"/>
          </a:p>
        </p:txBody>
      </p:sp>
      <p:sp>
        <p:nvSpPr>
          <p:cNvPr id="5" name="Slide Number Placeholder 4">
            <a:extLst>
              <a:ext uri="{FF2B5EF4-FFF2-40B4-BE49-F238E27FC236}">
                <a16:creationId xmlns:a16="http://schemas.microsoft.com/office/drawing/2014/main" id="{D9AA4147-C223-D276-41C8-5625130B74E3}"/>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19</a:t>
            </a:fld>
            <a:endParaRPr lang="en-IN" dirty="0"/>
          </a:p>
        </p:txBody>
      </p:sp>
    </p:spTree>
    <p:extLst>
      <p:ext uri="{BB962C8B-B14F-4D97-AF65-F5344CB8AC3E}">
        <p14:creationId xmlns:p14="http://schemas.microsoft.com/office/powerpoint/2010/main" val="734280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27C00-0497-D8DE-1CEE-D7D4CF63BBDB}"/>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cs typeface="Segoe UI" panose="020B0502040204020203" pitchFamily="34" charset="0"/>
              </a:rPr>
              <a:t>References</a:t>
            </a:r>
          </a:p>
        </p:txBody>
      </p:sp>
      <p:sp>
        <p:nvSpPr>
          <p:cNvPr id="3" name="Content Placeholder 2">
            <a:extLst>
              <a:ext uri="{FF2B5EF4-FFF2-40B4-BE49-F238E27FC236}">
                <a16:creationId xmlns:a16="http://schemas.microsoft.com/office/drawing/2014/main" id="{2CCCE921-BD2A-E1C9-2682-F9CE27D11153}"/>
              </a:ext>
            </a:extLst>
          </p:cNvPr>
          <p:cNvSpPr>
            <a:spLocks noGrp="1"/>
          </p:cNvSpPr>
          <p:nvPr>
            <p:ph idx="1"/>
          </p:nvPr>
        </p:nvSpPr>
        <p:spPr>
          <a:xfrm>
            <a:off x="837590" y="1508760"/>
            <a:ext cx="10515600" cy="4663440"/>
          </a:xfrm>
        </p:spPr>
        <p:txBody>
          <a:bodyPr wrap="square">
            <a:noAutofit/>
          </a:bodyPr>
          <a:lstStyle/>
          <a:p>
            <a:pPr marL="514350" lvl="0" indent="-514350" algn="l">
              <a:spcAft>
                <a:spcPts val="1200"/>
              </a:spcAft>
              <a:buFont typeface="+mj-lt"/>
              <a:buAutoNum type="arabicPeriod"/>
            </a:pPr>
            <a:r>
              <a:rPr lang="en-IN" sz="2000" dirty="0"/>
              <a:t xml:space="preserve">Bershika, “AI-based virtual interviewer system using NLP and emotion detection,” </a:t>
            </a:r>
            <a:r>
              <a:rPr lang="en-IN" sz="2000" i="1" dirty="0"/>
              <a:t>IEEE Transactions on Affective Computing</a:t>
            </a:r>
            <a:r>
              <a:rPr lang="en-IN" sz="2000" dirty="0"/>
              <a:t>, 2026.</a:t>
            </a:r>
          </a:p>
          <a:p>
            <a:pPr marL="514350" lvl="0" indent="-514350" algn="l">
              <a:spcAft>
                <a:spcPts val="1200"/>
              </a:spcAft>
              <a:buFont typeface="+mj-lt"/>
              <a:buAutoNum type="arabicPeriod"/>
            </a:pPr>
            <a:r>
              <a:rPr lang="en-IN" sz="2000" dirty="0"/>
              <a:t xml:space="preserve">A. Canagasuriam and E. R. Lukacik, “ChatGPT, can you take my job interview? Examining artificial intelligence cheating in asynchronous video interviews,” </a:t>
            </a:r>
            <a:r>
              <a:rPr lang="en-IN" sz="2000" i="1" dirty="0"/>
              <a:t>Computers in Human Behavior</a:t>
            </a:r>
            <a:r>
              <a:rPr lang="en-IN" sz="2000" dirty="0"/>
              <a:t>, vol. 150, p. 107980, 2024.</a:t>
            </a:r>
          </a:p>
          <a:p>
            <a:pPr marL="514350" lvl="0" indent="-514350" algn="l">
              <a:spcAft>
                <a:spcPts val="1200"/>
              </a:spcAft>
              <a:buFont typeface="+mj-lt"/>
              <a:buAutoNum type="arabicPeriod"/>
            </a:pPr>
            <a:r>
              <a:rPr lang="en-IN" sz="2000" dirty="0"/>
              <a:t xml:space="preserve">Y. C. Chou, “An AI mock-interview platform for interview performance analysis,” in </a:t>
            </a:r>
            <a:r>
              <a:rPr lang="en-IN" sz="2000" i="1" dirty="0"/>
              <a:t>Proc. International Conference on Human-Computer Interaction (HCII)</a:t>
            </a:r>
            <a:r>
              <a:rPr lang="en-IN" sz="2000" dirty="0"/>
              <a:t>, 2022, pp. 45–58.</a:t>
            </a:r>
          </a:p>
          <a:p>
            <a:pPr marL="514350" lvl="0" indent="-514350" algn="l">
              <a:spcAft>
                <a:spcPts val="1200"/>
              </a:spcAft>
              <a:buFont typeface="+mj-lt"/>
              <a:buAutoNum type="arabicPeriod"/>
            </a:pPr>
            <a:r>
              <a:rPr lang="en-IN" sz="2000" dirty="0"/>
              <a:t xml:space="preserve">C. Lin, “Using AI as a learning tool through simulation interviews to enhance adult learning,” </a:t>
            </a:r>
            <a:r>
              <a:rPr lang="en-IN" sz="2000" i="1" dirty="0"/>
              <a:t>Educational Technology Research and Development</a:t>
            </a:r>
            <a:r>
              <a:rPr lang="en-IN" sz="2000" dirty="0"/>
              <a:t>, vol. 73, no. 1, pp. 112–134, 2025.</a:t>
            </a:r>
          </a:p>
          <a:p>
            <a:pPr marL="514350" lvl="0" indent="-514350" algn="l">
              <a:spcAft>
                <a:spcPts val="1200"/>
              </a:spcAft>
              <a:buFont typeface="+mj-lt"/>
              <a:buAutoNum type="arabicPeriod"/>
            </a:pPr>
            <a:r>
              <a:rPr lang="en-IN" sz="2000" dirty="0"/>
              <a:t xml:space="preserve">Z. Liu, “Interview AI-ssistant: Designing for real-time human-AI collaboration in interview preparation and execution,” in </a:t>
            </a:r>
            <a:r>
              <a:rPr lang="en-IN" sz="2000" i="1" dirty="0"/>
              <a:t>Proc. ACM CHI Conference on Human Factors in Computing Systems</a:t>
            </a:r>
            <a:r>
              <a:rPr lang="en-IN" sz="2000" dirty="0"/>
              <a:t>, 2025, pp. 1–16.</a:t>
            </a:r>
          </a:p>
        </p:txBody>
      </p:sp>
      <p:sp>
        <p:nvSpPr>
          <p:cNvPr id="4" name="Date Placeholder 3">
            <a:extLst>
              <a:ext uri="{FF2B5EF4-FFF2-40B4-BE49-F238E27FC236}">
                <a16:creationId xmlns:a16="http://schemas.microsoft.com/office/drawing/2014/main" id="{8EB55D0B-1A0B-E4FC-BC98-2528426FDBFC}"/>
              </a:ext>
            </a:extLst>
          </p:cNvPr>
          <p:cNvSpPr>
            <a:spLocks noGrp="1"/>
          </p:cNvSpPr>
          <p:nvPr>
            <p:ph type="dt" sz="half" idx="10"/>
          </p:nvPr>
        </p:nvSpPr>
        <p:spPr>
          <a:xfrm>
            <a:off x="837590" y="6355994"/>
            <a:ext cx="2743200" cy="364845"/>
          </a:xfrm>
        </p:spPr>
        <p:txBody>
          <a:bodyPr/>
          <a:lstStyle/>
          <a:p>
            <a:fld id="{F558E231-67E6-48CB-8EE0-ADDA0D1ECD20}" type="datetime1">
              <a:rPr lang="en-IN" smtClean="0"/>
              <a:t>25-10-2026</a:t>
            </a:fld>
            <a:endParaRPr lang="en-IN"/>
          </a:p>
        </p:txBody>
      </p:sp>
      <p:sp>
        <p:nvSpPr>
          <p:cNvPr id="5" name="Slide Number Placeholder 4">
            <a:extLst>
              <a:ext uri="{FF2B5EF4-FFF2-40B4-BE49-F238E27FC236}">
                <a16:creationId xmlns:a16="http://schemas.microsoft.com/office/drawing/2014/main" id="{4A823915-7CCB-186D-082D-1477796D59E9}"/>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20</a:t>
            </a:fld>
            <a:endParaRPr lang="en-IN"/>
          </a:p>
        </p:txBody>
      </p:sp>
    </p:spTree>
    <p:extLst>
      <p:ext uri="{BB962C8B-B14F-4D97-AF65-F5344CB8AC3E}">
        <p14:creationId xmlns:p14="http://schemas.microsoft.com/office/powerpoint/2010/main" val="311660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27C00-0497-D8DE-1CEE-D7D4CF63BBDB}"/>
              </a:ext>
            </a:extLst>
          </p:cNvPr>
          <p:cNvSpPr>
            <a:spLocks noGrp="1"/>
          </p:cNvSpPr>
          <p:nvPr>
            <p:ph type="title"/>
          </p:nvPr>
        </p:nvSpPr>
        <p:spPr>
          <a:xfrm>
            <a:off x="837590" y="365760"/>
            <a:ext cx="10515600" cy="914400"/>
          </a:xfrm>
        </p:spPr>
        <p:txBody>
          <a:bodyPr wrap="square" anchor="ctr">
            <a:noAutofit/>
          </a:bodyPr>
          <a:lstStyle/>
          <a:p>
            <a:pPr algn="l"/>
            <a:r>
              <a:rPr lang="en-IN" sz="3600" b="0" dirty="0">
                <a:latin typeface="+mn-lt"/>
                <a:cs typeface="Segoe UI" panose="020B0502040204020203" pitchFamily="34" charset="0"/>
              </a:rPr>
              <a:t>References (Contd.)</a:t>
            </a:r>
          </a:p>
        </p:txBody>
      </p:sp>
      <p:sp>
        <p:nvSpPr>
          <p:cNvPr id="3" name="Content Placeholder 2">
            <a:extLst>
              <a:ext uri="{FF2B5EF4-FFF2-40B4-BE49-F238E27FC236}">
                <a16:creationId xmlns:a16="http://schemas.microsoft.com/office/drawing/2014/main" id="{2CCCE921-BD2A-E1C9-2682-F9CE27D11153}"/>
              </a:ext>
            </a:extLst>
          </p:cNvPr>
          <p:cNvSpPr>
            <a:spLocks noGrp="1"/>
          </p:cNvSpPr>
          <p:nvPr>
            <p:ph idx="1"/>
          </p:nvPr>
        </p:nvSpPr>
        <p:spPr>
          <a:xfrm>
            <a:off x="837590" y="1508760"/>
            <a:ext cx="10515600" cy="4663440"/>
          </a:xfrm>
        </p:spPr>
        <p:txBody>
          <a:bodyPr wrap="square">
            <a:noAutofit/>
          </a:bodyPr>
          <a:lstStyle/>
          <a:p>
            <a:pPr marL="514350" lvl="0" indent="-514350" algn="l">
              <a:spcAft>
                <a:spcPts val="1200"/>
              </a:spcAft>
              <a:buFont typeface="+mj-lt"/>
              <a:buAutoNum type="arabicPeriod" startAt="6"/>
            </a:pPr>
            <a:r>
              <a:rPr lang="en-IN" sz="2000" dirty="0"/>
              <a:t xml:space="preserve">X. Lu, “Exploring GenAI in model texts as a feedback instrument: L2 practice and perceptions,” </a:t>
            </a:r>
            <a:r>
              <a:rPr lang="en-IN" sz="2000" i="1" dirty="0"/>
              <a:t>System</a:t>
            </a:r>
            <a:r>
              <a:rPr lang="en-IN" sz="2000" dirty="0"/>
              <a:t>, vol. 128, p. 103210, 2025.</a:t>
            </a:r>
          </a:p>
          <a:p>
            <a:pPr marL="514350" lvl="0" indent="-514350" algn="l">
              <a:spcAft>
                <a:spcPts val="1200"/>
              </a:spcAft>
              <a:buFont typeface="+mj-lt"/>
              <a:buAutoNum type="arabicPeriod" startAt="6"/>
            </a:pPr>
            <a:r>
              <a:rPr lang="en-IN" sz="2000" dirty="0"/>
              <a:t xml:space="preserve">S. Padiyar, “PrepInterview: A multimodal AI system to enhance student interview skills,” </a:t>
            </a:r>
            <a:r>
              <a:rPr lang="en-IN" sz="2000" i="1" dirty="0"/>
              <a:t>IEEE Transactions on Learning Technologies</a:t>
            </a:r>
            <a:r>
              <a:rPr lang="en-IN" sz="2000" dirty="0"/>
              <a:t>, vol. 19, pp. 204–218, 2026.</a:t>
            </a:r>
          </a:p>
          <a:p>
            <a:pPr marL="514350" lvl="0" indent="-514350" algn="l">
              <a:spcAft>
                <a:spcPts val="1200"/>
              </a:spcAft>
              <a:buFont typeface="+mj-lt"/>
              <a:buAutoNum type="arabicPeriod" startAt="6"/>
            </a:pPr>
            <a:r>
              <a:rPr lang="en-IN" sz="2000" dirty="0"/>
              <a:t xml:space="preserve">A. Rajbhar, “AIced-Prep – AI based mock interview evaluator,” </a:t>
            </a:r>
            <a:r>
              <a:rPr lang="en-IN" sz="2000" i="1" dirty="0"/>
              <a:t>International Journal of Artificial Intelligence in Education</a:t>
            </a:r>
            <a:r>
              <a:rPr lang="en-IN" sz="2000" dirty="0"/>
              <a:t>, vol. 35, no. 2, pp. 340–362, 2025.</a:t>
            </a:r>
          </a:p>
          <a:p>
            <a:pPr marL="514350" lvl="0" indent="-514350" algn="l">
              <a:spcAft>
                <a:spcPts val="1200"/>
              </a:spcAft>
              <a:buFont typeface="+mj-lt"/>
              <a:buAutoNum type="arabicPeriod" startAt="6"/>
            </a:pPr>
            <a:r>
              <a:rPr lang="en-IN" sz="2000" dirty="0"/>
              <a:t xml:space="preserve">R. Serrao, “PrepGenius: An AI interview assistant,” </a:t>
            </a:r>
            <a:r>
              <a:rPr lang="en-IN" sz="2000" i="1" dirty="0"/>
              <a:t>Web Engineering and AI Applications</a:t>
            </a:r>
            <a:r>
              <a:rPr lang="en-IN" sz="2000" dirty="0"/>
              <a:t>, vol. 14, no. 3, pp. 88–102, 2025.</a:t>
            </a:r>
          </a:p>
          <a:p>
            <a:pPr marL="514350" lvl="0" indent="-514350" algn="l">
              <a:spcAft>
                <a:spcPts val="1200"/>
              </a:spcAft>
              <a:buFont typeface="+mj-lt"/>
              <a:buAutoNum type="arabicPeriod" startAt="6"/>
            </a:pPr>
            <a:r>
              <a:rPr lang="en-IN" sz="2000" dirty="0"/>
              <a:t xml:space="preserve">K. Singh, “SkillSprint: AI-powered interview practice and analysis hub,” </a:t>
            </a:r>
            <a:r>
              <a:rPr lang="en-IN" sz="2000" i="1" dirty="0"/>
              <a:t>Journal of Educational Data Mining</a:t>
            </a:r>
            <a:r>
              <a:rPr lang="en-IN" sz="2000" dirty="0"/>
              <a:t>, vol. 18, no. 1, pp. 45–69, 2026.</a:t>
            </a:r>
          </a:p>
        </p:txBody>
      </p:sp>
      <p:sp>
        <p:nvSpPr>
          <p:cNvPr id="4" name="Date Placeholder 3">
            <a:extLst>
              <a:ext uri="{FF2B5EF4-FFF2-40B4-BE49-F238E27FC236}">
                <a16:creationId xmlns:a16="http://schemas.microsoft.com/office/drawing/2014/main" id="{8EB55D0B-1A0B-E4FC-BC98-2528426FDBFC}"/>
              </a:ext>
            </a:extLst>
          </p:cNvPr>
          <p:cNvSpPr>
            <a:spLocks noGrp="1"/>
          </p:cNvSpPr>
          <p:nvPr>
            <p:ph type="dt" sz="half" idx="10"/>
          </p:nvPr>
        </p:nvSpPr>
        <p:spPr>
          <a:xfrm>
            <a:off x="837590" y="6355994"/>
            <a:ext cx="2743200" cy="364845"/>
          </a:xfrm>
        </p:spPr>
        <p:txBody>
          <a:bodyPr/>
          <a:lstStyle/>
          <a:p>
            <a:fld id="{F558E231-67E6-48CB-8EE0-ADDA0D1ECD20}" type="datetime1">
              <a:rPr lang="en-IN" smtClean="0"/>
              <a:t>25-10-2026</a:t>
            </a:fld>
            <a:endParaRPr lang="en-IN"/>
          </a:p>
        </p:txBody>
      </p:sp>
      <p:sp>
        <p:nvSpPr>
          <p:cNvPr id="5" name="Slide Number Placeholder 4">
            <a:extLst>
              <a:ext uri="{FF2B5EF4-FFF2-40B4-BE49-F238E27FC236}">
                <a16:creationId xmlns:a16="http://schemas.microsoft.com/office/drawing/2014/main" id="{4A823915-7CCB-186D-082D-1477796D59E9}"/>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20</a:t>
            </a:fld>
            <a:endParaRPr lang="en-IN"/>
          </a:p>
        </p:txBody>
      </p:sp>
    </p:spTree>
    <p:extLst>
      <p:ext uri="{BB962C8B-B14F-4D97-AF65-F5344CB8AC3E}">
        <p14:creationId xmlns:p14="http://schemas.microsoft.com/office/powerpoint/2010/main" val="3116604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02BE7-F083-4065-A4C4-65B164BF57E9}"/>
              </a:ext>
            </a:extLst>
          </p:cNvPr>
          <p:cNvSpPr>
            <a:spLocks noGrp="1"/>
          </p:cNvSpPr>
          <p:nvPr>
            <p:ph type="title"/>
          </p:nvPr>
        </p:nvSpPr>
        <p:spPr>
          <a:xfrm>
            <a:off x="837590" y="2468880"/>
            <a:ext cx="10515600" cy="1920240"/>
          </a:xfrm>
        </p:spPr>
        <p:txBody>
          <a:bodyPr anchor="ctr">
            <a:noAutofit/>
          </a:bodyPr>
          <a:lstStyle/>
          <a:p>
            <a:pPr algn="ctr"/>
            <a:r>
              <a:rPr lang="en-IN" sz="8800" dirty="0">
                <a:latin typeface="+mn-lt"/>
                <a:ea typeface="Segoe UI Emoji" panose="020B0502040204020203" pitchFamily="34" charset="0"/>
                <a:cs typeface="Segoe UI" panose="020B0502040204020203" pitchFamily="34" charset="0"/>
              </a:rPr>
              <a:t>Thank you!</a:t>
            </a:r>
          </a:p>
        </p:txBody>
      </p:sp>
      <p:sp>
        <p:nvSpPr>
          <p:cNvPr id="3" name="Date Placeholder 2">
            <a:extLst>
              <a:ext uri="{FF2B5EF4-FFF2-40B4-BE49-F238E27FC236}">
                <a16:creationId xmlns:a16="http://schemas.microsoft.com/office/drawing/2014/main" id="{157F099C-B918-5338-3562-AF83EF663C78}"/>
              </a:ext>
            </a:extLst>
          </p:cNvPr>
          <p:cNvSpPr>
            <a:spLocks noGrp="1"/>
          </p:cNvSpPr>
          <p:nvPr>
            <p:ph type="dt" sz="half" idx="10"/>
          </p:nvPr>
        </p:nvSpPr>
        <p:spPr>
          <a:xfrm>
            <a:off x="837590" y="6355994"/>
            <a:ext cx="2743200" cy="364845"/>
          </a:xfrm>
        </p:spPr>
        <p:txBody>
          <a:bodyPr/>
          <a:lstStyle/>
          <a:p>
            <a:fld id="{024D09DE-649E-4D42-99E4-A8193990E34E}" type="datetime1">
              <a:rPr lang="en-IN" smtClean="0"/>
              <a:t>25-10-2026</a:t>
            </a:fld>
            <a:endParaRPr lang="en-IN"/>
          </a:p>
        </p:txBody>
      </p:sp>
      <p:sp>
        <p:nvSpPr>
          <p:cNvPr id="4" name="Slide Number Placeholder 3">
            <a:extLst>
              <a:ext uri="{FF2B5EF4-FFF2-40B4-BE49-F238E27FC236}">
                <a16:creationId xmlns:a16="http://schemas.microsoft.com/office/drawing/2014/main" id="{EF3729FE-C92D-3346-A285-80175C7E274B}"/>
              </a:ext>
            </a:extLst>
          </p:cNvPr>
          <p:cNvSpPr>
            <a:spLocks noGrp="1"/>
          </p:cNvSpPr>
          <p:nvPr>
            <p:ph type="sldNum" sz="quarter" idx="12"/>
          </p:nvPr>
        </p:nvSpPr>
        <p:spPr>
          <a:xfrm>
            <a:off x="8609990" y="6355994"/>
            <a:ext cx="2743200" cy="364845"/>
          </a:xfrm>
        </p:spPr>
        <p:txBody>
          <a:bodyPr/>
          <a:lstStyle/>
          <a:p>
            <a:fld id="{C2822FB2-3071-4352-B8E4-3C2B5D4CC972}" type="slidenum">
              <a:rPr lang="en-IN" smtClean="0"/>
              <a:t>21</a:t>
            </a:fld>
            <a:endParaRPr lang="en-IN"/>
          </a:p>
        </p:txBody>
      </p:sp>
    </p:spTree>
    <p:extLst>
      <p:ext uri="{BB962C8B-B14F-4D97-AF65-F5344CB8AC3E}">
        <p14:creationId xmlns:p14="http://schemas.microsoft.com/office/powerpoint/2010/main" val="1949477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368</TotalTime>
  <Words>1619</Words>
  <Application>Microsoft Office PowerPoint</Application>
  <PresentationFormat>Widescreen</PresentationFormat>
  <Paragraphs>167</Paragraphs>
  <Slides>21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Segoe UI</vt:lpstr>
      <vt:lpstr>Times New Roman</vt:lpstr>
      <vt:lpstr>Office Theme</vt:lpstr>
      <vt:lpstr>Research Productivity Tools - ADA23SLU07 Final Assessment</vt:lpstr>
      <vt:lpstr>Contents</vt:lpstr>
      <vt:lpstr>Introduction</vt:lpstr>
      <vt:lpstr>Problem Statement</vt:lpstr>
      <vt:lpstr>Literature Survey</vt:lpstr>
      <vt:lpstr>Objective</vt:lpstr>
      <vt:lpstr>Workflow Diagram</vt:lpstr>
      <vt:lpstr>Methodology</vt:lpstr>
      <vt:lpstr>Methodology </vt:lpstr>
      <vt:lpstr>Tools</vt:lpstr>
      <vt:lpstr>Techniques</vt:lpstr>
      <vt:lpstr>Implementation</vt:lpstr>
      <vt:lpstr>Environment Setup</vt:lpstr>
      <vt:lpstr>Evaluation Metrics</vt:lpstr>
      <vt:lpstr>Result Analysis</vt:lpstr>
      <vt:lpstr>Output Screenshots</vt:lpstr>
      <vt:lpstr>Output Screenshots</vt:lpstr>
      <vt:lpstr>Conclusion</vt:lpstr>
      <vt:lpstr>Future Scope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NEXUS: A Hybrid Memory-Augmented Multimodal Multi-Agent Framework for Personalized Desktop AI Assistants</dc:title>
  <dc:creator>Bharathram K; Vishal S</dc:creator>
  <cp:lastModifiedBy>Bharathram K; Vishal S</cp:lastModifiedBy>
  <cp:revision>317</cp:revision>
  <dcterms:created xsi:type="dcterms:W3CDTF">2025-04-25T03:07:44Z</dcterms:created>
  <dcterms:modified xsi:type="dcterms:W3CDTF">2026-10-25T18:00:26Z</dcterms:modified>
</cp:coreProperties>
</file>